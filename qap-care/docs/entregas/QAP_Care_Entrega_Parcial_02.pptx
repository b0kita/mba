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2"/>
  </p:notesMasterIdLst>
  <p:sldIdLst>
    <p:sldId id="256" r:id="rId4"/>
    <p:sldId id="264" r:id="rId16"/>
    <p:sldId id="265" r:id="rId17"/>
    <p:sldId id="266" r:id="rId18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1695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tableStyles" Target="tableStyles.xml"/><Relationship Id="rId15" Type="http://schemas.openxmlformats.org/officeDocument/2006/relationships/viewProps" Target="viewProps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69447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6116571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0705893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5496748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86252416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0108087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9868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5740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155857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E1C3CA-D226-C5A8-1DBC-B857333D2055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7305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30166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70813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E41A59-F907-63A0-68D5-5DC93807929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61299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5300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54618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3F9E55-C493-876B-C90C-33AD4191F5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65119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47163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091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FF864D-205C-E873-F4CB-9AEF7FFBFE7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24716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2489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9881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BC6F47-050D-7FE9-37E1-F023561519F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04890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24023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52659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D39EEB-49F7-0D90-36BD-7007854A93D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45358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48518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7786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1B0EB2-A3D3-BBB4-3847-B8BB44886E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23536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73087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6858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229B74-69DB-24D3-28F3-BF5DEDE489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O que só a entrevista responde é se, recebendo a rota com paradas, o motorista aceita o check-in de 30 s — a hipótese H6, que sustenta a camada consentida. Está na página 13.</a:t>
            </a:r>
          </a:p>
          <a:p/>
          <a:p>
            <a:r>
              <a:t>A média não mostra o risco; o caso mostra. Na semana observada, um motorista fez 16,5 h num dia e voltou ao volante 7,7 h depois. Os alertas de conduta não subiram com as horas de turno (17 a 19 por hora): a telemetria de hoje não vê a fadiga. Ressalvas: uma semana, uma frota de ônibus e motor ligado como medida, o que deixa a jornada real abaixo do que aparece. Os números da CNT e os nossos medem coisas diferentes e não se comparam diretamente.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657907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37155425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31101457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2046168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09503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60889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3332544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643219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0344231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0739877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866342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756613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857344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14554001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312929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74933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2561803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7421442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410428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1076927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0341877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92515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948171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2272565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1975765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6828651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1257244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3044275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9709281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94255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9213919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6806517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1397500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328434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14709072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691806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183558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9056161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8471590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9745375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8229510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752409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171153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8627062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67297313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7094428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671782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5053503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51387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9922213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6977409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3752552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446965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42011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374700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7803571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416798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604244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1121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033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1958567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1342916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1721785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12313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9590792" name="Shape 0"/>
          <p:cNvSpPr/>
          <p:nvPr/>
        </p:nvSpPr>
        <p:spPr bwMode="auto">
          <a:xfrm>
            <a:off x="640063" y="713232"/>
            <a:ext cx="146300" cy="146304"/>
          </a:xfrm>
          <a:prstGeom prst="rect">
            <a:avLst/>
          </a:prstGeom>
          <a:solidFill>
            <a:srgbClr val="B5482F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06094702" name="Text 1"/>
          <p:cNvSpPr/>
          <p:nvPr/>
        </p:nvSpPr>
        <p:spPr bwMode="auto">
          <a:xfrm>
            <a:off x="896089" y="640080"/>
            <a:ext cx="5486262" cy="310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spc="398">
                <a:solidFill>
                  <a:srgbClr val="E7EAE8"/>
                </a:solidFill>
                <a:latin typeface="Calibri"/>
                <a:ea typeface="Calibri"/>
                <a:cs typeface="Calibri"/>
              </a:rPr>
              <a:t>QAP CARE</a:t>
            </a:r>
            <a:endParaRPr lang="en-US" sz="1300"/>
          </a:p>
        </p:txBody>
      </p:sp>
      <p:sp>
        <p:nvSpPr>
          <p:cNvPr id="1608348917" name="Text 2"/>
          <p:cNvSpPr/>
          <p:nvPr/>
        </p:nvSpPr>
        <p:spPr bwMode="auto">
          <a:xfrm>
            <a:off x="640063" y="2148840"/>
            <a:ext cx="100581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 spc="199">
                <a:solidFill>
                  <a:srgbClr val="8FA6A4"/>
                </a:solidFill>
                <a:latin typeface="Calibri"/>
                <a:ea typeface="Calibri"/>
                <a:cs typeface="Calibri"/>
              </a:rPr>
              <a:t>ENTREGA PARCIAL 02   ·   PROPOSTA DE VALOR &amp; BUSINESS MODEL</a:t>
            </a:r>
            <a:endParaRPr lang="en-US" sz="1350"/>
          </a:p>
        </p:txBody>
      </p:sp>
      <p:sp>
        <p:nvSpPr>
          <p:cNvPr id="39047127" name="Text 3"/>
          <p:cNvSpPr/>
          <p:nvPr/>
        </p:nvSpPr>
        <p:spPr bwMode="auto">
          <a:xfrm>
            <a:off x="640063" y="2560320"/>
            <a:ext cx="1042389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  <a:defRPr/>
            </a:pPr>
            <a:r>
              <a:rPr lang="en-US" sz="4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Gestão Preditiva de Riscos</a:t>
            </a:r>
            <a:endParaRPr lang="en-US" sz="4600"/>
          </a:p>
          <a:p>
            <a:pPr marL="0" indent="0">
              <a:lnSpc>
                <a:spcPct val="104000"/>
              </a:lnSpc>
              <a:buNone/>
              <a:defRPr/>
            </a:pPr>
            <a:r>
              <a:rPr lang="en-US" sz="4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Psicossociais no Transporte Rodoviário</a:t>
            </a:r>
            <a:endParaRPr lang="en-US" sz="4600"/>
          </a:p>
        </p:txBody>
      </p:sp>
      <p:sp>
        <p:nvSpPr>
          <p:cNvPr id="1099791717" name="Shape 4"/>
          <p:cNvSpPr/>
          <p:nvPr/>
        </p:nvSpPr>
        <p:spPr bwMode="auto">
          <a:xfrm>
            <a:off x="640063" y="5029199"/>
            <a:ext cx="3840382" cy="0"/>
          </a:xfrm>
          <a:prstGeom prst="line">
            <a:avLst/>
          </a:prstGeom>
          <a:noFill/>
          <a:ln w="12700">
            <a:solidFill>
              <a:srgbClr val="2C4A50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22577092" name="Text 5"/>
          <p:cNvSpPr/>
          <p:nvPr/>
        </p:nvSpPr>
        <p:spPr bwMode="auto">
          <a:xfrm>
            <a:off x="640063" y="5175504"/>
            <a:ext cx="82293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400" b="1">
                <a:solidFill>
                  <a:srgbClr val="DDE4E2"/>
                </a:solidFill>
                <a:latin typeface="Calibri"/>
                <a:ea typeface="Calibri"/>
                <a:cs typeface="Calibri"/>
              </a:rPr>
              <a:t>Gabriel Santos · Diogo Veiga · Felipe Ciarini · Paulo Henrique</a:t>
            </a:r>
            <a:endParaRPr lang="en-US" sz="1400"/>
          </a:p>
          <a:p>
            <a:pPr marL="0" indent="0">
              <a:lnSpc>
                <a:spcPct val="130000"/>
              </a:lnSpc>
              <a:buNone/>
              <a:defRPr/>
            </a:pPr>
            <a:r>
              <a:rPr lang="en-US" sz="1300">
                <a:solidFill>
                  <a:srgbClr val="8FA6A4"/>
                </a:solidFill>
                <a:latin typeface="Calibri"/>
                <a:ea typeface="Calibri"/>
                <a:cs typeface="Calibri"/>
              </a:rPr>
              <a:t>Orientador: Ricardo Francisco Esposto</a:t>
            </a:r>
            <a:endParaRPr lang="en-US" sz="1400"/>
          </a:p>
        </p:txBody>
      </p:sp>
      <p:sp>
        <p:nvSpPr>
          <p:cNvPr id="2020125736" name="Text 6"/>
          <p:cNvSpPr/>
          <p:nvPr/>
        </p:nvSpPr>
        <p:spPr bwMode="auto">
          <a:xfrm>
            <a:off x="640063" y="5989320"/>
            <a:ext cx="73150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76908E"/>
                </a:solidFill>
                <a:latin typeface="Calibri"/>
                <a:ea typeface="Calibri"/>
                <a:cs typeface="Calibri"/>
              </a:rPr>
              <a:t>FIAP · Startup One · Outubro de 2026</a:t>
            </a:r>
            <a:endParaRPr lang="en-US" sz="1200"/>
          </a:p>
        </p:txBody>
      </p:sp>
      <p:sp>
        <p:nvSpPr>
          <p:cNvPr id="2055584955" name="Text 7"/>
          <p:cNvSpPr/>
          <p:nvPr/>
        </p:nvSpPr>
        <p:spPr bwMode="auto">
          <a:xfrm>
            <a:off x="640063" y="6519672"/>
            <a:ext cx="109112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5C6F6E"/>
                </a:solidFill>
                <a:latin typeface="Calibri"/>
                <a:ea typeface="Calibri"/>
                <a:cs typeface="Calibri"/>
              </a:rPr>
              <a:t>CONFIDENCIAL — material acadêmico em elaboração · QAP Care</a:t>
            </a:r>
            <a:endParaRPr lang="en-US" sz="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2854983" name="TextBox 1"/>
          <p:cNvSpPr txBox="1"/>
          <p:nvPr/>
        </p:nvSpPr>
        <p:spPr bwMode="auto">
          <a:xfrm>
            <a:off x="10195560" y="182880"/>
            <a:ext cx="1600200" cy="11887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0000"/>
              </a:lnSpc>
              <a:defRPr/>
            </a:pPr>
            <a:r>
              <a:rPr sz="9200" b="1">
                <a:solidFill>
                  <a:srgbClr val="E7EAE8"/>
                </a:solidFill>
                <a:latin typeface="Cambria"/>
              </a:rPr>
              <a:t>04</a:t>
            </a:r>
            <a:endParaRPr/>
          </a:p>
        </p:txBody>
      </p:sp>
      <p:sp>
        <p:nvSpPr>
          <p:cNvPr id="1490663068" name="TextBox 2"/>
          <p:cNvSpPr txBox="1"/>
          <p:nvPr/>
        </p:nvSpPr>
        <p:spPr bwMode="auto">
          <a:xfrm>
            <a:off x="566928" y="402336"/>
            <a:ext cx="91440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defRPr/>
            </a:pPr>
            <a:r>
              <a:rPr sz="1100" b="1" spc="159">
                <a:solidFill>
                  <a:srgbClr val="8F3A26"/>
                </a:solidFill>
                <a:latin typeface="Cambria"/>
              </a:rPr>
              <a:t>SEÇÃO 04</a:t>
            </a:r>
            <a:endParaRPr/>
          </a:p>
        </p:txBody>
      </p:sp>
      <p:sp>
        <p:nvSpPr>
          <p:cNvPr id="460993611" name="TextBox 3"/>
          <p:cNvSpPr txBox="1"/>
          <p:nvPr/>
        </p:nvSpPr>
        <p:spPr bwMode="auto">
          <a:xfrm>
            <a:off x="566928" y="694943"/>
            <a:ext cx="9418320" cy="6583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sz="3100" b="1">
                <a:solidFill>
                  <a:srgbClr val="123138"/>
                </a:solidFill>
                <a:latin typeface="Cambria"/>
              </a:rPr>
              <a:t>Jornada do usuário</a:t>
            </a:r>
            <a:endParaRPr/>
          </a:p>
        </p:txBody>
      </p:sp>
      <p:sp>
        <p:nvSpPr>
          <p:cNvPr id="1523849433" name="TextBox 4"/>
          <p:cNvSpPr txBox="1"/>
          <p:nvPr/>
        </p:nvSpPr>
        <p:spPr bwMode="auto">
          <a:xfrm>
            <a:off x="566928" y="1444581"/>
            <a:ext cx="11057838" cy="531621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defRPr/>
            </a:pPr>
            <a:r>
              <a:rPr sz="1250" b="1">
                <a:solidFill>
                  <a:srgbClr val="1E2B2A"/>
                </a:solidFill>
                <a:latin typeface="Cambria"/>
              </a:rPr>
              <a:t>Cenário sintético, não evidência de campo.</a:t>
            </a:r>
            <a:r>
              <a:rPr sz="1250" b="0">
                <a:solidFill>
                  <a:srgbClr val="1E2B2A"/>
                </a:solidFill>
                <a:latin typeface="Calibri"/>
              </a:rPr>
              <a:t> Construído sobre o roteiro de entrevista do time para testar o instrumento. Tudo aqui é hipótese a validar.</a:t>
            </a:r>
            <a:endParaRPr/>
          </a:p>
        </p:txBody>
      </p:sp>
      <p:graphicFrame>
        <p:nvGraphicFramePr>
          <p:cNvPr id="674783214" name="Table 5"/>
          <p:cNvGraphicFramePr>
            <a:graphicFrameLocks xmlns:a="http://schemas.openxmlformats.org/drawingml/2006/main"/>
          </p:cNvGraphicFramePr>
          <p:nvPr/>
        </p:nvGraphicFramePr>
        <p:xfrm rot="0">
          <a:off x="566928" y="2030728"/>
          <a:ext cx="11297782" cy="2810001"/>
        </p:xfrm>
        <a:graphic>
          <a:graphicData uri="http://schemas.openxmlformats.org/drawingml/2006/table">
            <a:tbl>
              <a:tblPr firstRow="1" firstCol="0" lastRow="0" lastCol="0" bandRow="0" bandCol="0">
                <a:tableStyleId>{5C22544A-7EE6-4342-B048-85BDC9FD1C3A}</a:tableStyleId>
              </a:tblPr>
              <a:tblGrid>
                <a:gridCol w="995204"/>
                <a:gridCol w="2993560"/>
                <a:gridCol w="1988823"/>
                <a:gridCol w="2829348"/>
                <a:gridCol w="2490844"/>
              </a:tblGrid>
              <a:tr h="316992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Momento</a:t>
                      </a:r>
                      <a:endParaRPr/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23138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Motorista</a:t>
                      </a:r>
                      <a:endParaRPr/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23138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Gestor e operação</a:t>
                      </a:r>
                      <a:endParaRPr/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23138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Fricção atual</a:t>
                      </a:r>
                      <a:endParaRPr/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23138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Oportunidade</a:t>
                      </a:r>
                      <a:endParaRPr/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23138"/>
                    </a:solidFill>
                  </a:tcPr>
                </a:tc>
              </a:tr>
              <a:tr h="498602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1">
                          <a:solidFill>
                            <a:srgbClr val="123138"/>
                          </a:solidFill>
                          <a:latin typeface="Cambria"/>
                        </a:rPr>
                        <a:t>1 · Entrada</a:t>
                      </a:r>
                      <a:endParaRPr/>
                    </a:p>
                  </a:txBody>
                  <a:tcPr anchor="ctr">
                    <a:lnT w="6349" algn="ctr">
                      <a:noFill/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Recebe treinamento e regras</a:t>
                      </a:r>
                      <a:endParaRPr/>
                    </a:p>
                  </a:txBody>
                  <a:tcPr anchor="ctr">
                    <a:lnT w="6349" algn="ctr">
                      <a:noFill/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Registra treinamento e controles</a:t>
                      </a:r>
                      <a:endParaRPr/>
                    </a:p>
                  </a:txBody>
                  <a:tcPr anchor="ctr">
                    <a:lnT w="6349" algn="ctr">
                      <a:noFill/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Não fica claro que informação é vista, por quem e com que efeito</a:t>
                      </a:r>
                      <a:endParaRPr/>
                    </a:p>
                  </a:txBody>
                  <a:tcPr anchor="ctr">
                    <a:lnT w="6349" algn="ctr">
                      <a:noFill/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Segurança como apoio, não punição automática</a:t>
                      </a:r>
                      <a:endParaRPr/>
                    </a:p>
                  </a:txBody>
                  <a:tcPr anchor="ctr">
                    <a:lnT w="6349" algn="ctr">
                      <a:noFill/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98602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1">
                          <a:solidFill>
                            <a:srgbClr val="123138"/>
                          </a:solidFill>
                          <a:latin typeface="Cambria"/>
                        </a:rPr>
                        <a:t>2 · Escala</a:t>
                      </a:r>
                      <a:endParaRPr/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Aceita rota e prazo; mais viagens, mais renda</a:t>
                      </a:r>
                      <a:endParaRPr/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Combina veículo, carga, rota e janela</a:t>
                      </a:r>
                      <a:endParaRPr/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Fecha no papel sem contar cansaço acumulado nem custo de parar</a:t>
                      </a:r>
                      <a:endParaRPr/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Decidir antes da saída: horário, rota, pausa ou troca</a:t>
                      </a:r>
                      <a:endParaRPr/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98602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1">
                          <a:solidFill>
                            <a:srgbClr val="123138"/>
                          </a:solidFill>
                          <a:latin typeface="Cambria"/>
                        </a:rPr>
                        <a:t>3 · Estrada</a:t>
                      </a:r>
                      <a:endParaRPr/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Percebe o sono e decide entre parar ou seguir para não perder o frete</a:t>
                      </a:r>
                      <a:endParaRPr/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Acompanha rota e telemetria, sem agir</a:t>
                      </a:r>
                      <a:endParaRPr/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O sinal fica com o motorista; nenhum contato preventivo aqui</a:t>
                      </a:r>
                      <a:endParaRPr/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Planejar a parada antes do alerta crítico</a:t>
                      </a:r>
                      <a:endParaRPr/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98602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1">
                          <a:solidFill>
                            <a:srgbClr val="123138"/>
                          </a:solidFill>
                          <a:latin typeface="Cambria"/>
                        </a:rPr>
                        <a:t>4 · Alerta</a:t>
                      </a:r>
                      <a:endParaRPr/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Recebe contato da central quando a câmera aponta</a:t>
                      </a:r>
                      <a:endParaRPr/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Busca parada e tenta preservar a entrega</a:t>
                      </a:r>
                      <a:endParaRPr/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O contato existe, mas chega tarde e improvisado</a:t>
                      </a:r>
                      <a:endParaRPr/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Converter risco em ação: pausa, troca ou reprogramação</a:t>
                      </a:r>
                      <a:endParaRPr/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98602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1">
                          <a:solidFill>
                            <a:srgbClr val="123138"/>
                          </a:solidFill>
                          <a:latin typeface="Cambria"/>
                        </a:rPr>
                        <a:t>5 · Depois</a:t>
                      </a:r>
                      <a:endParaRPr/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Explica o atraso e teme perder rotas</a:t>
                      </a:r>
                      <a:endParaRPr/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Registra, investiga e alimenta o PGR</a:t>
                      </a:r>
                      <a:endParaRPr/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A aprendizagem vem depois, e soa como cobrança</a:t>
                      </a:r>
                      <a:endParaRPr/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Cada ocorrência revisa escala e controle</a:t>
                      </a:r>
                      <a:endParaRPr/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noFill/>
                  </a:tcPr>
                </a:tc>
              </a:tr>
            </a:tbl>
          </a:graphicData>
        </a:graphic>
      </p:graphicFrame>
      <p:sp>
        <p:nvSpPr>
          <p:cNvPr id="47749742" name="Rounded Rectangle 6"/>
          <p:cNvSpPr/>
          <p:nvPr/>
        </p:nvSpPr>
        <p:spPr bwMode="auto">
          <a:xfrm>
            <a:off x="566928" y="5041559"/>
            <a:ext cx="11057838" cy="1176527"/>
          </a:xfrm>
          <a:prstGeom prst="roundRect">
            <a:avLst>
              <a:gd name="adj" fmla="val 7000"/>
            </a:avLst>
          </a:prstGeom>
          <a:solidFill>
            <a:srgbClr val="F5E7E1"/>
          </a:solidFill>
          <a:ln w="12700">
            <a:solidFill>
              <a:srgbClr val="DD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7383788" name="TextBox 7"/>
          <p:cNvSpPr txBox="1"/>
          <p:nvPr/>
        </p:nvSpPr>
        <p:spPr bwMode="auto">
          <a:xfrm>
            <a:off x="814896" y="5314356"/>
            <a:ext cx="10564062" cy="19811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defRPr/>
            </a:pPr>
            <a:r>
              <a:rPr sz="1200" b="1">
                <a:solidFill>
                  <a:srgbClr val="123138"/>
                </a:solidFill>
                <a:latin typeface="Cambria"/>
              </a:rPr>
              <a:t>Onde a jornada dói mais</a:t>
            </a:r>
            <a:endParaRPr/>
          </a:p>
        </p:txBody>
      </p:sp>
      <p:sp>
        <p:nvSpPr>
          <p:cNvPr id="20994161" name="TextBox 8"/>
          <p:cNvSpPr txBox="1"/>
          <p:nvPr/>
        </p:nvSpPr>
        <p:spPr bwMode="auto">
          <a:xfrm>
            <a:off x="814896" y="5512475"/>
            <a:ext cx="10565142" cy="34714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defRPr/>
            </a:pPr>
            <a:r>
              <a:rPr sz="1200" b="0">
                <a:solidFill>
                  <a:srgbClr val="1E2B2A"/>
                </a:solidFill>
                <a:latin typeface="Calibri"/>
              </a:rPr>
              <a:t>O vazio não é depois do alerta de câmera, ali já existe contato da central. Está </a:t>
            </a:r>
            <a:r>
              <a:rPr sz="1200" b="1">
                <a:solidFill>
                  <a:srgbClr val="1E2B2A"/>
                </a:solidFill>
                <a:latin typeface="Cambria"/>
              </a:rPr>
              <a:t>entre o primeiro sinal que o motorista percebe e uma decisão operacional com tempo de agir</a:t>
            </a:r>
            <a:r>
              <a:rPr sz="1200" b="0">
                <a:solidFill>
                  <a:srgbClr val="1E2B2A"/>
                </a:solidFill>
                <a:latin typeface="Calibri"/>
              </a:rPr>
              <a:t>. É esse intervalo que o produto quer preencher, sem expor dado pessoal e sem reduzir segurança a um alerta tardio.</a:t>
            </a:r>
            <a:endParaRPr/>
          </a:p>
        </p:txBody>
      </p:sp>
      <p:sp>
        <p:nvSpPr>
          <p:cNvPr id="1718769706" name="TextBox 9"/>
          <p:cNvSpPr txBox="1"/>
          <p:nvPr/>
        </p:nvSpPr>
        <p:spPr bwMode="auto">
          <a:xfrm>
            <a:off x="566928" y="6528816"/>
            <a:ext cx="11057838" cy="21945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defRPr/>
            </a:pPr>
            <a:r>
              <a:rPr sz="800" b="0">
                <a:solidFill>
                  <a:srgbClr val="9AA6A3"/>
                </a:solidFill>
                <a:latin typeface="Calibri"/>
              </a:rPr>
              <a:t>CONFIDENCIAL — material acadêmico em elaboração · QAP Care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3193469" name="TextBox 1"/>
          <p:cNvSpPr txBox="1"/>
          <p:nvPr/>
        </p:nvSpPr>
        <p:spPr bwMode="auto">
          <a:xfrm>
            <a:off x="10195560" y="182880"/>
            <a:ext cx="1600200" cy="11887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0000"/>
              </a:lnSpc>
              <a:defRPr/>
            </a:pPr>
            <a:r>
              <a:rPr sz="9200" b="1">
                <a:solidFill>
                  <a:srgbClr val="E7EAE8"/>
                </a:solidFill>
                <a:latin typeface="Cambria"/>
              </a:rPr>
              <a:t>05</a:t>
            </a:r>
            <a:endParaRPr/>
          </a:p>
        </p:txBody>
      </p:sp>
      <p:sp>
        <p:nvSpPr>
          <p:cNvPr id="649855222" name="TextBox 2"/>
          <p:cNvSpPr txBox="1"/>
          <p:nvPr/>
        </p:nvSpPr>
        <p:spPr bwMode="auto">
          <a:xfrm>
            <a:off x="566928" y="402336"/>
            <a:ext cx="91440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defRPr/>
            </a:pPr>
            <a:r>
              <a:rPr sz="1100" b="1" spc="159">
                <a:solidFill>
                  <a:srgbClr val="8F3A26"/>
                </a:solidFill>
                <a:latin typeface="Cambria"/>
              </a:rPr>
              <a:t>SEÇÃO 05</a:t>
            </a:r>
            <a:endParaRPr/>
          </a:p>
        </p:txBody>
      </p:sp>
      <p:sp>
        <p:nvSpPr>
          <p:cNvPr id="417467624" name="TextBox 3"/>
          <p:cNvSpPr txBox="1"/>
          <p:nvPr/>
        </p:nvSpPr>
        <p:spPr bwMode="auto">
          <a:xfrm>
            <a:off x="566928" y="694943"/>
            <a:ext cx="9418320" cy="6583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sz="3100" b="1">
                <a:solidFill>
                  <a:srgbClr val="123138"/>
                </a:solidFill>
                <a:latin typeface="Cambria"/>
              </a:rPr>
              <a:t>Ecossistema e core</a:t>
            </a:r>
            <a:endParaRPr/>
          </a:p>
        </p:txBody>
      </p:sp>
      <p:sp>
        <p:nvSpPr>
          <p:cNvPr id="1857083644" name="TextBox 4"/>
          <p:cNvSpPr txBox="1"/>
          <p:nvPr/>
        </p:nvSpPr>
        <p:spPr bwMode="auto">
          <a:xfrm>
            <a:off x="566928" y="1428896"/>
            <a:ext cx="11057838" cy="32524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defRPr/>
            </a:pPr>
            <a:r>
              <a:rPr sz="1250" b="1">
                <a:solidFill>
                  <a:srgbClr val="1E2B2A"/>
                </a:solidFill>
                <a:latin typeface="Cambria"/>
              </a:rPr>
              <a:t>Cenário sintético, não evidência de campo</a:t>
            </a:r>
            <a:r>
              <a:rPr sz="1250" b="0">
                <a:solidFill>
                  <a:srgbClr val="1E2B2A"/>
                </a:solidFill>
                <a:latin typeface="Calibri"/>
              </a:rPr>
              <a:t> — posições e interesses dos atores ainda precisam ser validados, e o plano está na página 14.</a:t>
            </a:r>
            <a:endParaRPr/>
          </a:p>
        </p:txBody>
      </p:sp>
      <p:graphicFrame>
        <p:nvGraphicFramePr>
          <p:cNvPr id="1738802449" name="Table 5"/>
          <p:cNvGraphicFramePr>
            <a:graphicFrameLocks xmlns:a="http://schemas.openxmlformats.org/drawingml/2006/main"/>
          </p:cNvGraphicFramePr>
          <p:nvPr/>
        </p:nvGraphicFramePr>
        <p:xfrm rot="0">
          <a:off x="566928" y="1777300"/>
          <a:ext cx="11057836" cy="3308603"/>
        </p:xfrm>
        <a:graphic>
          <a:graphicData uri="http://schemas.openxmlformats.org/drawingml/2006/table">
            <a:tbl>
              <a:tblPr firstRow="1" firstCol="0" lastRow="0" lastCol="0" bandRow="0" bandCol="0">
                <a:tableStyleId>{5C22544A-7EE6-4342-B048-85BDC9FD1C3A}</a:tableStyleId>
              </a:tblPr>
              <a:tblGrid>
                <a:gridCol w="2533506"/>
                <a:gridCol w="3033045"/>
                <a:gridCol w="2337705"/>
                <a:gridCol w="3153576"/>
              </a:tblGrid>
              <a:tr h="316992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Ator</a:t>
                      </a:r>
                      <a:endParaRPr/>
                    </a:p>
                  </a:txBody>
                  <a:tcPr anchor="ctr">
                    <a:solidFill>
                      <a:srgbClr val="123138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Papel</a:t>
                      </a:r>
                      <a:endParaRPr/>
                    </a:p>
                  </a:txBody>
                  <a:tcPr anchor="ctr">
                    <a:solidFill>
                      <a:srgbClr val="123138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O que busca</a:t>
                      </a:r>
                      <a:endParaRPr/>
                    </a:p>
                  </a:txBody>
                  <a:tcPr anchor="ctr">
                    <a:solidFill>
                      <a:srgbClr val="123138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Posição provável</a:t>
                      </a:r>
                      <a:endParaRPr/>
                    </a:p>
                  </a:txBody>
                  <a:tcPr anchor="ctr">
                    <a:solidFill>
                      <a:srgbClr val="123138"/>
                    </a:solidFill>
                  </a:tcPr>
                </a:tc>
              </a:tr>
              <a:tr h="498602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1">
                          <a:solidFill>
                            <a:srgbClr val="123138"/>
                          </a:solidFill>
                          <a:latin typeface="Cambria"/>
                        </a:rPr>
                        <a:t>Motorista</a:t>
                      </a:r>
                      <a:endParaRPr/>
                    </a:p>
                  </a:txBody>
                  <a:tcPr anchor="ctr"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Usa; percebe o cansaço primeiro e decide parar ou seguir</a:t>
                      </a:r>
                      <a:endParaRPr/>
                    </a:p>
                  </a:txBody>
                  <a:tcPr anchor="ctr"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Renda, entrega, segurança e privacidade</a:t>
                      </a:r>
                      <a:endParaRPr/>
                    </a:p>
                  </a:txBody>
                  <a:tcPr anchor="ctr"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A favor se a pausa não custar; contra se for vigilância</a:t>
                      </a:r>
                      <a:endParaRPr/>
                    </a:p>
                  </a:txBody>
                  <a:tcPr anchor="ctr"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98602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1">
                          <a:solidFill>
                            <a:srgbClr val="123138"/>
                          </a:solidFill>
                          <a:latin typeface="Cambria"/>
                        </a:rPr>
                        <a:t>Gestor de SST</a:t>
                      </a:r>
                      <a:endParaRPr/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Recomenda ou compra; cuida de controles e do PGR</a:t>
                      </a:r>
                      <a:endParaRPr/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Menos risco e passivo; demonstrar gestão contínua</a:t>
                      </a:r>
                      <a:endParaRPr/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Aliado se houver decisão preventiva simples</a:t>
                      </a:r>
                      <a:endParaRPr/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98602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1">
                          <a:solidFill>
                            <a:srgbClr val="123138"/>
                          </a:solidFill>
                          <a:latin typeface="Cambria"/>
                        </a:rPr>
                        <a:t>Operação e central</a:t>
                      </a:r>
                      <a:endParaRPr/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Monta escala e atua depois do alerta</a:t>
                      </a:r>
                      <a:endParaRPr/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Cumprir o prazo com alternativa viável</a:t>
                      </a:r>
                      <a:endParaRPr/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Aliada se o sinal vier com margem de ação</a:t>
                      </a:r>
                      <a:endParaRPr/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98602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1">
                          <a:solidFill>
                            <a:srgbClr val="123138"/>
                          </a:solidFill>
                          <a:latin typeface="Cambria"/>
                        </a:rPr>
                        <a:t>Diretoria e cliente final</a:t>
                      </a:r>
                      <a:endParaRPr/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Uma aprova o orçamento; o outro define o prazo e a janela</a:t>
                      </a:r>
                      <a:endParaRPr/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Custo, reputação e seguro; previsibilidade na entrega</a:t>
                      </a:r>
                      <a:endParaRPr/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Diretoria neutra até ver redução de risco; o cliente amplia ou alivia a pressão</a:t>
                      </a:r>
                      <a:endParaRPr/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98602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1">
                          <a:solidFill>
                            <a:srgbClr val="123138"/>
                          </a:solidFill>
                          <a:latin typeface="Cambria"/>
                        </a:rPr>
                        <a:t>Fornecedores: telemetria, DMS, jornada e consultoria de SST</a:t>
                      </a:r>
                      <a:endParaRPr/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Produzem o sinal de rota e tempo de direção; apoiam processo e documentação</a:t>
                      </a:r>
                      <a:endParaRPr/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Manter o contrato e entregar conformidade</a:t>
                      </a:r>
                      <a:endParaRPr/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Fonte e parceira — e concorrente na mesma casa</a:t>
                      </a:r>
                      <a:endParaRPr/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98602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1">
                          <a:solidFill>
                            <a:srgbClr val="123138"/>
                          </a:solidFill>
                          <a:latin typeface="Cambria"/>
                        </a:rPr>
                        <a:t>MTE, MPT, sindicatos e seguradora</a:t>
                      </a:r>
                      <a:endParaRPr/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Regulam, fiscalizam e influenciam adesão</a:t>
                      </a:r>
                      <a:endParaRPr/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Proteção do trabalhador e menos sinistro</a:t>
                      </a:r>
                      <a:endParaRPr/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Alta relevância; posição não validada</a:t>
                      </a:r>
                      <a:endParaRPr/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noFill/>
                  </a:tcPr>
                </a:tc>
              </a:tr>
            </a:tbl>
          </a:graphicData>
        </a:graphic>
      </p:graphicFrame>
      <p:sp>
        <p:nvSpPr>
          <p:cNvPr id="1424242798" name="Rounded Rectangle 6"/>
          <p:cNvSpPr/>
          <p:nvPr/>
        </p:nvSpPr>
        <p:spPr bwMode="auto">
          <a:xfrm>
            <a:off x="566928" y="5255364"/>
            <a:ext cx="11057838" cy="978408"/>
          </a:xfrm>
          <a:prstGeom prst="roundRect">
            <a:avLst>
              <a:gd name="adj" fmla="val 7000"/>
            </a:avLst>
          </a:prstGeom>
          <a:solidFill>
            <a:srgbClr val="F5E7E1"/>
          </a:solidFill>
          <a:ln w="12700">
            <a:solidFill>
              <a:srgbClr val="DD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72376153" name="TextBox 7"/>
          <p:cNvSpPr txBox="1"/>
          <p:nvPr/>
        </p:nvSpPr>
        <p:spPr bwMode="auto">
          <a:xfrm flipH="0" flipV="0">
            <a:off x="813454" y="5570994"/>
            <a:ext cx="10564782" cy="34714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defRPr/>
            </a:pPr>
            <a:r>
              <a:rPr sz="1200" b="1">
                <a:solidFill>
                  <a:srgbClr val="1E2B2A"/>
                </a:solidFill>
                <a:latin typeface="Cambria"/>
              </a:rPr>
              <a:t>A tensão que organiza o mapa:</a:t>
            </a:r>
            <a:r>
              <a:rPr sz="1200" b="0">
                <a:solidFill>
                  <a:srgbClr val="1E2B2A"/>
                </a:solidFill>
                <a:latin typeface="Calibri"/>
              </a:rPr>
              <a:t> o motorista precisa de proteção sem perder renda; a operação precisa decidir antes do atraso crítico; o SST precisa demonstrar gestão contínua. </a:t>
            </a:r>
            <a:r>
              <a:rPr sz="1200" b="1">
                <a:solidFill>
                  <a:srgbClr val="1E2B2A"/>
                </a:solidFill>
                <a:latin typeface="Cambria"/>
              </a:rPr>
              <a:t>O core é orquestrar essa prevenção entre os três</a:t>
            </a:r>
            <a:r>
              <a:rPr sz="1200" b="0">
                <a:solidFill>
                  <a:srgbClr val="1E2B2A"/>
                </a:solidFill>
                <a:latin typeface="Calibri"/>
              </a:rPr>
              <a:t> — câmera, dashboard e app viabilizam, não são o produto.</a:t>
            </a:r>
            <a:endParaRPr/>
          </a:p>
        </p:txBody>
      </p:sp>
      <p:sp>
        <p:nvSpPr>
          <p:cNvPr id="2025513894" name="TextBox 8"/>
          <p:cNvSpPr txBox="1"/>
          <p:nvPr/>
        </p:nvSpPr>
        <p:spPr bwMode="auto">
          <a:xfrm>
            <a:off x="566928" y="6528816"/>
            <a:ext cx="11057838" cy="21945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defRPr/>
            </a:pPr>
            <a:r>
              <a:rPr sz="800" b="0">
                <a:solidFill>
                  <a:srgbClr val="9AA6A3"/>
                </a:solidFill>
                <a:latin typeface="Calibri"/>
              </a:rPr>
              <a:t>CONFIDENCIAL — material acadêmico em elaboração · QAP Care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5986876" name="TextBox 1"/>
          <p:cNvSpPr txBox="1"/>
          <p:nvPr/>
        </p:nvSpPr>
        <p:spPr bwMode="auto">
          <a:xfrm>
            <a:off x="10195560" y="182880"/>
            <a:ext cx="1600200" cy="11887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0000"/>
              </a:lnSpc>
              <a:defRPr/>
            </a:pPr>
            <a:r>
              <a:rPr sz="9200" b="1">
                <a:solidFill>
                  <a:srgbClr val="E7EAE8"/>
                </a:solidFill>
                <a:latin typeface="Cambria"/>
              </a:rPr>
              <a:t>05</a:t>
            </a:r>
            <a:endParaRPr/>
          </a:p>
        </p:txBody>
      </p:sp>
      <p:sp>
        <p:nvSpPr>
          <p:cNvPr id="1574895006" name="TextBox 2"/>
          <p:cNvSpPr txBox="1"/>
          <p:nvPr/>
        </p:nvSpPr>
        <p:spPr bwMode="auto">
          <a:xfrm>
            <a:off x="566928" y="402336"/>
            <a:ext cx="91440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defRPr/>
            </a:pPr>
            <a:r>
              <a:rPr sz="1100" b="1" spc="160">
                <a:solidFill>
                  <a:srgbClr val="8F3A26"/>
                </a:solidFill>
                <a:latin typeface="Cambria"/>
              </a:rPr>
              <a:t>SEÇÃO 05</a:t>
            </a:r>
            <a:endParaRPr/>
          </a:p>
        </p:txBody>
      </p:sp>
      <p:sp>
        <p:nvSpPr>
          <p:cNvPr id="1882908459" name="TextBox 3"/>
          <p:cNvSpPr txBox="1"/>
          <p:nvPr/>
        </p:nvSpPr>
        <p:spPr bwMode="auto">
          <a:xfrm>
            <a:off x="566928" y="694944"/>
            <a:ext cx="9418320" cy="6583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sz="3100" b="1">
                <a:solidFill>
                  <a:srgbClr val="123138"/>
                </a:solidFill>
                <a:latin typeface="Cambria"/>
              </a:rPr>
              <a:t>Business Model Canvas</a:t>
            </a:r>
            <a:endParaRPr/>
          </a:p>
        </p:txBody>
      </p:sp>
      <p:sp>
        <p:nvSpPr>
          <p:cNvPr id="525930051" name="TextBox 5"/>
          <p:cNvSpPr txBox="1"/>
          <p:nvPr/>
        </p:nvSpPr>
        <p:spPr bwMode="auto">
          <a:xfrm>
            <a:off x="566927" y="1465769"/>
            <a:ext cx="5402198" cy="18097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defRPr/>
            </a:pPr>
            <a:r>
              <a:rPr sz="1250" b="1">
                <a:solidFill>
                  <a:srgbClr val="1E2B2A"/>
                </a:solidFill>
                <a:latin typeface="Cambria"/>
                <a:ea typeface="Cambria"/>
                <a:cs typeface="Cambria"/>
              </a:rPr>
              <a:t>Gera</a:t>
            </a:r>
            <a:r>
              <a:rPr lang="en-US" sz="1250" b="1" i="0" u="none" strike="noStrike" cap="none" spc="0">
                <a:solidFill>
                  <a:srgbClr val="1E2B2A"/>
                </a:solidFill>
                <a:latin typeface="Cambria"/>
                <a:ea typeface="Cambria"/>
                <a:cs typeface="Cambria"/>
              </a:rPr>
              <a:t>ç</a:t>
            </a:r>
            <a:r>
              <a:rPr sz="1250" b="1">
                <a:solidFill>
                  <a:srgbClr val="1E2B2A"/>
                </a:solidFill>
                <a:latin typeface="Cambria"/>
                <a:ea typeface="Cambria"/>
                <a:cs typeface="Cambria"/>
              </a:rPr>
              <a:t>ão</a:t>
            </a:r>
            <a:r>
              <a:rPr sz="1250" b="1">
                <a:solidFill>
                  <a:srgbClr val="1E2B2A"/>
                </a:solidFill>
                <a:latin typeface="Calibri"/>
              </a:rPr>
              <a:t> de valor</a:t>
            </a:r>
            <a:endParaRPr/>
          </a:p>
        </p:txBody>
      </p:sp>
      <p:graphicFrame>
        <p:nvGraphicFramePr>
          <p:cNvPr id="274474273" name="Table 6"/>
          <p:cNvGraphicFramePr>
            <a:graphicFrameLocks xmlns:a="http://schemas.openxmlformats.org/drawingml/2006/main" noGrp="1"/>
          </p:cNvGraphicFramePr>
          <p:nvPr/>
        </p:nvGraphicFramePr>
        <p:xfrm rot="0">
          <a:off x="566928" y="1887917"/>
          <a:ext cx="5212812" cy="3189732"/>
        </p:xfrm>
        <a:graphic>
          <a:graphicData uri="http://schemas.openxmlformats.org/drawingml/2006/table">
            <a:tbl>
              <a:tblPr firstRow="1" firstCol="0" lastRow="0" lastCol="0" bandRow="0" bandCol="0">
                <a:tableStyleId>{5C22544A-7EE6-4342-B048-85BDC9FD1C3A}</a:tableStyleId>
              </a:tblPr>
              <a:tblGrid>
                <a:gridCol w="1648125"/>
                <a:gridCol w="3564687"/>
              </a:tblGrid>
              <a:tr h="316992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mbria"/>
                        </a:rPr>
                        <a:t>Bloco</a:t>
                      </a:r>
                      <a:endParaRPr u="none"/>
                    </a:p>
                  </a:txBody>
                  <a:tcPr marL="73152" marR="73152" marT="22860" marB="22860" anchor="ctr">
                    <a:solidFill>
                      <a:srgbClr val="123138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mbria"/>
                        </a:rPr>
                        <a:t>Conteúdo</a:t>
                      </a:r>
                      <a:endParaRPr u="none"/>
                    </a:p>
                  </a:txBody>
                  <a:tcPr marL="73152" marR="73152" marT="22860" marB="22860" anchor="ctr">
                    <a:solidFill>
                      <a:srgbClr val="123138"/>
                    </a:solidFill>
                  </a:tcPr>
                </a:tc>
              </a:tr>
              <a:tr h="498602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lang="pt-BR" sz="1150" b="1" u="none">
                          <a:solidFill>
                            <a:srgbClr val="123138"/>
                          </a:solidFill>
                          <a:latin typeface="Cambria"/>
                        </a:rPr>
                        <a:t>Segmentos</a:t>
                      </a:r>
                      <a:endParaRPr u="none"/>
                    </a:p>
                  </a:txBody>
                  <a:tcPr marL="73152" marR="73152" marT="22860" marB="22860" anchor="ctr"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 u="none">
                          <a:solidFill>
                            <a:srgbClr val="1E2B2A"/>
                          </a:solidFill>
                          <a:latin typeface="Calibri"/>
                        </a:rPr>
                        <a:t>Transportadora de carga, 200–2.000 motoristas CLT, frota própria.</a:t>
                      </a:r>
                      <a:endParaRPr u="none"/>
                    </a:p>
                  </a:txBody>
                  <a:tcPr marL="73152" marR="73152" marT="22860" marB="22860" anchor="ctr"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8467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1" u="none">
                          <a:solidFill>
                            <a:srgbClr val="123138"/>
                          </a:solidFill>
                          <a:latin typeface="Cambria"/>
                        </a:rPr>
                        <a:t>Proposta de valor</a:t>
                      </a:r>
                      <a:endParaRPr u="none"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 u="none">
                          <a:solidFill>
                            <a:srgbClr val="1E2B2A"/>
                          </a:solidFill>
                          <a:latin typeface="Calibri"/>
                        </a:rPr>
                        <a:t>Antecipar em 24–72 h o risco de fadiga com o dado que a empresa já coleta, mais os dados de de saúde do motorista, sem expor o dado</a:t>
                      </a:r>
                      <a:endParaRPr u="none"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8602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1" u="none">
                          <a:solidFill>
                            <a:srgbClr val="123138"/>
                          </a:solidFill>
                          <a:latin typeface="Cambria"/>
                        </a:rPr>
                        <a:t>Canais</a:t>
                      </a:r>
                      <a:endParaRPr u="none"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 u="none">
                          <a:solidFill>
                            <a:srgbClr val="1E2B2A"/>
                          </a:solidFill>
                          <a:latin typeface="Calibri"/>
                        </a:rPr>
                        <a:t>Direto ao gestor de SST; sindicato patronal; ERP; seguradora</a:t>
                      </a:r>
                      <a:endParaRPr u="none"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8602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1" u="none">
                          <a:solidFill>
                            <a:srgbClr val="123138"/>
                          </a:solidFill>
                          <a:latin typeface="Cambria"/>
                        </a:rPr>
                        <a:t>Relacionamento</a:t>
                      </a:r>
                      <a:endParaRPr u="none"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 u="none">
                          <a:solidFill>
                            <a:srgbClr val="1E2B2A"/>
                          </a:solidFill>
                          <a:latin typeface="Calibri"/>
                        </a:rPr>
                        <a:t>Quem paga: implantação, relatório, apoio na auditoria. Quem usa: o app canal</a:t>
                      </a:r>
                      <a:endParaRPr u="none"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8467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1" u="none">
                          <a:solidFill>
                            <a:srgbClr val="123138"/>
                          </a:solidFill>
                          <a:latin typeface="Cambria"/>
                        </a:rPr>
                        <a:t>Receita</a:t>
                      </a:r>
                      <a:endParaRPr u="none"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 u="none">
                          <a:solidFill>
                            <a:srgbClr val="1E2B2A"/>
                          </a:solidFill>
                          <a:latin typeface="Calibri"/>
                        </a:rPr>
                        <a:t>Recorrente = </a:t>
                      </a:r>
                      <a:r>
                        <a:rPr sz="1150" b="1" u="none">
                          <a:solidFill>
                            <a:srgbClr val="123138"/>
                          </a:solidFill>
                          <a:latin typeface="Cambria"/>
                        </a:rPr>
                        <a:t>motoristas cadastrados e ativos × preço por motorista × meses</a:t>
                      </a:r>
                      <a:r>
                        <a:rPr sz="1150" b="0" u="none">
                          <a:solidFill>
                            <a:srgbClr val="1E2B2A"/>
                          </a:solidFill>
                          <a:latin typeface="Calibri"/>
                        </a:rPr>
                        <a:t>.</a:t>
                      </a:r>
                      <a:endParaRPr u="none"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26753908" name="TextBox 7"/>
          <p:cNvSpPr txBox="1"/>
          <p:nvPr/>
        </p:nvSpPr>
        <p:spPr bwMode="auto">
          <a:xfrm>
            <a:off x="6233006" y="1465769"/>
            <a:ext cx="5393558" cy="17561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defRPr/>
            </a:pPr>
            <a:r>
              <a:rPr sz="1250" b="1">
                <a:solidFill>
                  <a:srgbClr val="1E2B2A"/>
                </a:solidFill>
                <a:latin typeface="Cambria"/>
              </a:rPr>
              <a:t>Operação</a:t>
            </a:r>
            <a:endParaRPr/>
          </a:p>
        </p:txBody>
      </p:sp>
      <p:graphicFrame>
        <p:nvGraphicFramePr>
          <p:cNvPr id="1336368032" name="Table 8"/>
          <p:cNvGraphicFramePr>
            <a:graphicFrameLocks xmlns:a="http://schemas.openxmlformats.org/drawingml/2006/main" noGrp="1"/>
          </p:cNvGraphicFramePr>
          <p:nvPr/>
        </p:nvGraphicFramePr>
        <p:xfrm rot="0">
          <a:off x="6233007" y="1887918"/>
          <a:ext cx="5391758" cy="2691130"/>
        </p:xfrm>
        <a:graphic>
          <a:graphicData uri="http://schemas.openxmlformats.org/drawingml/2006/table">
            <a:tbl>
              <a:tblPr firstRow="1" firstCol="0" lastRow="0" lastCol="0" bandRow="0" bandCol="0">
                <a:tableStyleId>{5C22544A-7EE6-4342-B048-85BDC9FD1C3A}</a:tableStyleId>
              </a:tblPr>
              <a:tblGrid>
                <a:gridCol w="1523982"/>
                <a:gridCol w="3620887"/>
              </a:tblGrid>
              <a:tr h="316992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Bloco</a:t>
                      </a:r>
                      <a:endParaRPr/>
                    </a:p>
                  </a:txBody>
                  <a:tcPr marL="73152" marR="73152" marT="22860" marB="22860" anchor="ctr">
                    <a:solidFill>
                      <a:srgbClr val="123138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Conteúdo</a:t>
                      </a:r>
                      <a:endParaRPr/>
                    </a:p>
                  </a:txBody>
                  <a:tcPr marL="73152" marR="73152" marT="22860" marB="22860" anchor="ctr">
                    <a:solidFill>
                      <a:srgbClr val="123138"/>
                    </a:solidFill>
                  </a:tcPr>
                </a:tc>
              </a:tr>
              <a:tr h="878332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1">
                          <a:solidFill>
                            <a:srgbClr val="123138"/>
                          </a:solidFill>
                          <a:latin typeface="Cambria"/>
                        </a:rPr>
                        <a:t>Recursos-chave</a:t>
                      </a:r>
                      <a:endParaRPr/>
                    </a:p>
                  </a:txBody>
                  <a:tcPr marL="73152" marR="73152" marT="22860" marB="22860" anchor="ctr"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Motor de risco; instrumento clínico validado (escala de sonolência e rastreio breve de humor); equipe de dados e de saúde; base longitudinal por frota</a:t>
                      </a:r>
                      <a:endParaRPr/>
                    </a:p>
                  </a:txBody>
                  <a:tcPr marL="73152" marR="73152" marT="22860" marB="22860" anchor="ctr"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8602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1">
                          <a:solidFill>
                            <a:srgbClr val="123138"/>
                          </a:solidFill>
                          <a:latin typeface="Cambria"/>
                        </a:rPr>
                        <a:t>Atividades-chave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Gerar o PGR; manter e validar o motor; vender B2B; intervir antes da viagem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8602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1">
                          <a:solidFill>
                            <a:srgbClr val="123138"/>
                          </a:solidFill>
                          <a:latin typeface="Cambria"/>
                        </a:rPr>
                        <a:t>Parcerias-chave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Telemetria; clínica de saúde do trabalhador; sindicato; ERP; seguradora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8602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1">
                          <a:solidFill>
                            <a:srgbClr val="123138"/>
                          </a:solidFill>
                          <a:latin typeface="Cambria"/>
                        </a:rPr>
                        <a:t>Custo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Fixo: equipe e conformidade. Por motorista: infraestrutura. Por venda: comercial B2B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89245883" name="Rounded Rectangle 9"/>
          <p:cNvSpPr/>
          <p:nvPr/>
        </p:nvSpPr>
        <p:spPr bwMode="auto">
          <a:xfrm flipH="0" flipV="0">
            <a:off x="6233006" y="5336182"/>
            <a:ext cx="5391758" cy="860718"/>
          </a:xfrm>
          <a:prstGeom prst="roundRect">
            <a:avLst>
              <a:gd name="adj" fmla="val 7000"/>
            </a:avLst>
          </a:prstGeom>
          <a:solidFill>
            <a:srgbClr val="F5E7E1"/>
          </a:solidFill>
          <a:ln w="12700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500490" name="TextBox 10"/>
          <p:cNvSpPr txBox="1"/>
          <p:nvPr/>
        </p:nvSpPr>
        <p:spPr bwMode="auto">
          <a:xfrm flipH="0" flipV="0">
            <a:off x="6479174" y="5510652"/>
            <a:ext cx="4899422" cy="16860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defRPr/>
            </a:pPr>
            <a:r>
              <a:rPr sz="1200" b="1">
                <a:solidFill>
                  <a:srgbClr val="123138"/>
                </a:solidFill>
                <a:latin typeface="Cambria"/>
              </a:rPr>
              <a:t>Cobra-se por motorista cadastrado e ativo</a:t>
            </a:r>
            <a:endParaRPr/>
          </a:p>
        </p:txBody>
      </p:sp>
      <p:sp>
        <p:nvSpPr>
          <p:cNvPr id="2026705467" name="TextBox 11"/>
          <p:cNvSpPr txBox="1"/>
          <p:nvPr/>
        </p:nvSpPr>
        <p:spPr bwMode="auto">
          <a:xfrm>
            <a:off x="6478813" y="5766541"/>
            <a:ext cx="4899062" cy="16860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defRPr/>
            </a:pPr>
            <a:r>
              <a:rPr sz="1200" b="0">
                <a:solidFill>
                  <a:srgbClr val="1E2B2A"/>
                </a:solidFill>
                <a:latin typeface="Calibri"/>
              </a:rPr>
              <a:t>O cliente paga pelo que usa, e quem sai da frota sai da conta. </a:t>
            </a:r>
            <a:endParaRPr/>
          </a:p>
        </p:txBody>
      </p:sp>
      <p:sp>
        <p:nvSpPr>
          <p:cNvPr id="140384857" name="TextBox 12"/>
          <p:cNvSpPr txBox="1"/>
          <p:nvPr/>
        </p:nvSpPr>
        <p:spPr bwMode="auto">
          <a:xfrm>
            <a:off x="566928" y="6528816"/>
            <a:ext cx="11058558" cy="12227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defRPr/>
            </a:pPr>
            <a:r>
              <a:rPr lang="en-US" sz="800" b="0" i="0" u="none" strike="noStrike" cap="none" spc="0">
                <a:solidFill>
                  <a:srgbClr val="9AA6A3"/>
                </a:solidFill>
                <a:latin typeface="Calibri"/>
                <a:ea typeface="Calibri"/>
                <a:cs typeface="Calibri"/>
              </a:rPr>
              <a:t>CONFIDENCIAL — material acadêmico em elaboração · QAP Care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1009833" name="TextBox 1"/>
          <p:cNvSpPr txBox="1"/>
          <p:nvPr/>
        </p:nvSpPr>
        <p:spPr bwMode="auto">
          <a:xfrm>
            <a:off x="10195560" y="182880"/>
            <a:ext cx="1600200" cy="11887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0000"/>
              </a:lnSpc>
              <a:defRPr/>
            </a:pPr>
            <a:r>
              <a:rPr sz="9200" b="1">
                <a:solidFill>
                  <a:srgbClr val="E7EAE8"/>
                </a:solidFill>
                <a:latin typeface="Cambria"/>
              </a:rPr>
              <a:t>06</a:t>
            </a:r>
            <a:endParaRPr/>
          </a:p>
        </p:txBody>
      </p:sp>
      <p:sp>
        <p:nvSpPr>
          <p:cNvPr id="1701366652" name="TextBox 2"/>
          <p:cNvSpPr txBox="1"/>
          <p:nvPr/>
        </p:nvSpPr>
        <p:spPr bwMode="auto">
          <a:xfrm>
            <a:off x="566928" y="402336"/>
            <a:ext cx="91440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defRPr/>
            </a:pPr>
            <a:r>
              <a:rPr sz="1100" b="1" spc="160">
                <a:solidFill>
                  <a:srgbClr val="8F3A26"/>
                </a:solidFill>
                <a:latin typeface="Cambria"/>
              </a:rPr>
              <a:t>SEÇÃO 06</a:t>
            </a:r>
            <a:endParaRPr/>
          </a:p>
        </p:txBody>
      </p:sp>
      <p:sp>
        <p:nvSpPr>
          <p:cNvPr id="1430274173" name="TextBox 3"/>
          <p:cNvSpPr txBox="1"/>
          <p:nvPr/>
        </p:nvSpPr>
        <p:spPr bwMode="auto">
          <a:xfrm>
            <a:off x="566928" y="694944"/>
            <a:ext cx="9418320" cy="6583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sz="3100" b="1">
                <a:solidFill>
                  <a:srgbClr val="123138"/>
                </a:solidFill>
                <a:latin typeface="Cambria"/>
              </a:rPr>
              <a:t>Matriz de concorrência</a:t>
            </a:r>
            <a:endParaRPr/>
          </a:p>
        </p:txBody>
      </p:sp>
      <p:sp>
        <p:nvSpPr>
          <p:cNvPr id="2002829726" name="TextBox 4"/>
          <p:cNvSpPr txBox="1"/>
          <p:nvPr/>
        </p:nvSpPr>
        <p:spPr bwMode="auto">
          <a:xfrm flipH="0" flipV="0">
            <a:off x="565488" y="1554480"/>
            <a:ext cx="11059998" cy="17561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defRPr/>
            </a:pPr>
            <a:r>
              <a:rPr sz="1250" b="0">
                <a:solidFill>
                  <a:srgbClr val="1E2B2A"/>
                </a:solidFill>
                <a:latin typeface="Calibri"/>
              </a:rPr>
              <a:t>As colunas trazem o que cada empresa publica no próprio material</a:t>
            </a:r>
            <a:endParaRPr/>
          </a:p>
        </p:txBody>
      </p:sp>
      <p:graphicFrame>
        <p:nvGraphicFramePr>
          <p:cNvPr id="1777831875" name="Table 5"/>
          <p:cNvGraphicFramePr>
            <a:graphicFrameLocks xmlns:a="http://schemas.openxmlformats.org/drawingml/2006/main" noGrp="1"/>
          </p:cNvGraphicFramePr>
          <p:nvPr/>
        </p:nvGraphicFramePr>
        <p:xfrm rot="0">
          <a:off x="496455" y="2081860"/>
          <a:ext cx="11199504" cy="3379597"/>
        </p:xfrm>
        <a:graphic>
          <a:graphicData uri="http://schemas.openxmlformats.org/drawingml/2006/table">
            <a:tbl>
              <a:tblPr firstRow="1" firstCol="0" lastRow="0" lastCol="0" bandRow="0" bandCol="0">
                <a:tableStyleId>{5C22544A-7EE6-4342-B048-85BDC9FD1C3A}</a:tableStyleId>
              </a:tblPr>
              <a:tblGrid>
                <a:gridCol w="1530000"/>
                <a:gridCol w="2297749"/>
                <a:gridCol w="3292602"/>
                <a:gridCol w="4079151"/>
              </a:tblGrid>
              <a:tr h="336174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Tipo</a:t>
                      </a:r>
                      <a:endParaRPr/>
                    </a:p>
                  </a:txBody>
                  <a:tcPr marL="73152" marR="73152" marT="22860" marB="22860" anchor="ctr">
                    <a:solidFill>
                      <a:srgbClr val="123138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Quem</a:t>
                      </a:r>
                      <a:endParaRPr/>
                    </a:p>
                  </a:txBody>
                  <a:tcPr marL="73152" marR="73152" marT="22860" marB="22860" anchor="ctr">
                    <a:solidFill>
                      <a:srgbClr val="123138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O que já faz hoje</a:t>
                      </a:r>
                      <a:endParaRPr/>
                    </a:p>
                  </a:txBody>
                  <a:tcPr marL="73152" marR="73152" marT="22860" marB="22860" anchor="ctr">
                    <a:solidFill>
                      <a:srgbClr val="123138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O que não faz</a:t>
                      </a:r>
                      <a:endParaRPr/>
                    </a:p>
                  </a:txBody>
                  <a:tcPr marL="73152" marR="73152" marT="22860" marB="22860" anchor="ctr">
                    <a:solidFill>
                      <a:srgbClr val="123138"/>
                    </a:solidFill>
                  </a:tcPr>
                </a:tc>
              </a:tr>
              <a:tr h="730128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1">
                          <a:solidFill>
                            <a:srgbClr val="123138"/>
                          </a:solidFill>
                          <a:latin typeface="Cambria"/>
                        </a:rPr>
                        <a:t>Status quo</a:t>
                      </a:r>
                      <a:endParaRPr/>
                    </a:p>
                  </a:txBody>
                  <a:tcPr marL="73152" marR="73152" marT="22860" marB="22860" anchor="ctr"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Consultoria ou SESMT; questionário em planilha, o SETCESP distribui um modelo grátis desde 08/2026</a:t>
                      </a:r>
                      <a:endParaRPr/>
                    </a:p>
                  </a:txBody>
                  <a:tcPr marL="73152" marR="73152" marT="22860" marB="22860" anchor="ctr"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Levanta percepção e produz o documento</a:t>
                      </a:r>
                      <a:endParaRPr/>
                    </a:p>
                  </a:txBody>
                  <a:tcPr marL="73152" marR="73152" marT="22860" marB="22860" anchor="ctr"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Mede uma vez por campanha; não acompanha o dia a dia</a:t>
                      </a:r>
                      <a:endParaRPr/>
                    </a:p>
                  </a:txBody>
                  <a:tcPr marL="73152" marR="73152" marT="22860" marB="22860" anchor="ctr"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8774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1">
                          <a:solidFill>
                            <a:srgbClr val="123138"/>
                          </a:solidFill>
                          <a:latin typeface="Cambria"/>
                        </a:rPr>
                        <a:t>Direto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Câmera de fadiga (Cobli, Ituran)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Detecta bocejo e olho fechado, com alerta na cabine no instante do evento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Nenhuma menção a NR-1 ou risco psicossocial no material de produto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8774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1">
                          <a:solidFill>
                            <a:srgbClr val="123138"/>
                          </a:solidFill>
                          <a:latin typeface="Cambria"/>
                        </a:rPr>
                        <a:t>Direto, caso à parte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Geotab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1">
                          <a:solidFill>
                            <a:srgbClr val="123138"/>
                          </a:solidFill>
                          <a:latin typeface="Cambria"/>
                        </a:rPr>
                        <a:t>Já prevê risco por motorista</a:t>
                      </a: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, por comportamento de direção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Prevê </a:t>
                      </a:r>
                      <a:r>
                        <a:rPr sz="1150" b="1">
                          <a:solidFill>
                            <a:srgbClr val="123138"/>
                          </a:solidFill>
                          <a:latin typeface="Cambria"/>
                        </a:rPr>
                        <a:t>colisão</a:t>
                      </a: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, não fadiga; sem horizonte nem instrumento clínico declarados; sem menção a NR-1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0128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1">
                          <a:solidFill>
                            <a:srgbClr val="123138"/>
                          </a:solidFill>
                          <a:latin typeface="Cambria"/>
                        </a:rPr>
                        <a:t>Indireto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Saúde mental corporativa (Zenklub, Moodar)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1">
                          <a:solidFill>
                            <a:srgbClr val="123138"/>
                          </a:solidFill>
                          <a:latin typeface="Cambria"/>
                        </a:rPr>
                        <a:t>Já entregam inventário de risco psicossocial para o PGR</a:t>
                      </a: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: HSE-IT e COPSOQ II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Questionário de campanha, não dado operacional contínuo; sem oferta setorial para transporte no material público; sem método e horizonte de predição publicados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0128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1">
                          <a:solidFill>
                            <a:srgbClr val="123138"/>
                          </a:solidFill>
                          <a:latin typeface="Cambria"/>
                        </a:rPr>
                        <a:t>Substituto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1">
                          <a:solidFill>
                            <a:srgbClr val="123138"/>
                          </a:solidFill>
                          <a:latin typeface="Cambria"/>
                        </a:rPr>
                        <a:t>Praxio</a:t>
                      </a: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 (software Globus), que declara presença em mais de metade das grandes operadoras de ônibus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1">
                          <a:solidFill>
                            <a:srgbClr val="123138"/>
                          </a:solidFill>
                          <a:latin typeface="Cambria"/>
                        </a:rPr>
                        <a:t>Painel de Riscos Psicossociais desde 05/2026</a:t>
                      </a: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: Cruza afastamento por CID e escala para apontar padrão </a:t>
                      </a:r>
                      <a:r>
                        <a:rPr sz="1150" b="1">
                          <a:solidFill>
                            <a:srgbClr val="123138"/>
                          </a:solidFill>
                          <a:latin typeface="Cambria"/>
                        </a:rPr>
                        <a:t>antes do afastamento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Análise por área, não score por motorista; sem horizonte, instrumento clínico ou camada de saúde declarados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84322007" name="TextBox 6"/>
          <p:cNvSpPr txBox="1"/>
          <p:nvPr/>
        </p:nvSpPr>
        <p:spPr bwMode="auto">
          <a:xfrm>
            <a:off x="566928" y="6528816"/>
            <a:ext cx="11058558" cy="12227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defRPr/>
            </a:pPr>
            <a:r>
              <a:rPr lang="en-US" sz="800" b="0" i="0" u="none" strike="noStrike" cap="none" spc="0">
                <a:solidFill>
                  <a:srgbClr val="9AA6A3"/>
                </a:solidFill>
                <a:latin typeface="Calibri"/>
                <a:ea typeface="Calibri"/>
                <a:cs typeface="Calibri"/>
              </a:rPr>
              <a:t>CONFIDENCIAL — material acadêmico em elaboração · QAP Care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979845" name="TextBox 1"/>
          <p:cNvSpPr txBox="1"/>
          <p:nvPr/>
        </p:nvSpPr>
        <p:spPr bwMode="auto">
          <a:xfrm>
            <a:off x="10195560" y="182880"/>
            <a:ext cx="1600200" cy="11887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0000"/>
              </a:lnSpc>
              <a:defRPr/>
            </a:pPr>
            <a:r>
              <a:rPr sz="9200" b="1">
                <a:solidFill>
                  <a:srgbClr val="E7EAE8"/>
                </a:solidFill>
                <a:latin typeface="Cambria"/>
              </a:rPr>
              <a:t>06</a:t>
            </a:r>
            <a:endParaRPr/>
          </a:p>
        </p:txBody>
      </p:sp>
      <p:sp>
        <p:nvSpPr>
          <p:cNvPr id="615580056" name="TextBox 2"/>
          <p:cNvSpPr txBox="1"/>
          <p:nvPr/>
        </p:nvSpPr>
        <p:spPr bwMode="auto">
          <a:xfrm>
            <a:off x="566928" y="402336"/>
            <a:ext cx="91440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defRPr/>
            </a:pPr>
            <a:r>
              <a:rPr sz="1100" b="1" spc="160">
                <a:solidFill>
                  <a:srgbClr val="8F3A26"/>
                </a:solidFill>
                <a:latin typeface="Cambria"/>
              </a:rPr>
              <a:t>SEÇÃO 06</a:t>
            </a:r>
            <a:endParaRPr/>
          </a:p>
        </p:txBody>
      </p:sp>
      <p:sp>
        <p:nvSpPr>
          <p:cNvPr id="483716039" name="TextBox 3"/>
          <p:cNvSpPr txBox="1"/>
          <p:nvPr/>
        </p:nvSpPr>
        <p:spPr bwMode="auto">
          <a:xfrm>
            <a:off x="566928" y="694944"/>
            <a:ext cx="9418320" cy="6583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sz="3100" b="1">
                <a:solidFill>
                  <a:srgbClr val="123138"/>
                </a:solidFill>
                <a:latin typeface="Cambria"/>
              </a:rPr>
              <a:t>Diferenciais e canais</a:t>
            </a:r>
            <a:endParaRPr/>
          </a:p>
        </p:txBody>
      </p:sp>
      <p:sp>
        <p:nvSpPr>
          <p:cNvPr id="561030648" name="TextBox 4"/>
          <p:cNvSpPr txBox="1"/>
          <p:nvPr/>
        </p:nvSpPr>
        <p:spPr bwMode="auto">
          <a:xfrm flipH="0" flipV="0">
            <a:off x="566927" y="1554480"/>
            <a:ext cx="10678938" cy="35623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defRPr/>
            </a:pPr>
            <a:r>
              <a:rPr sz="1250" b="1">
                <a:solidFill>
                  <a:srgbClr val="1E2B2A"/>
                </a:solidFill>
                <a:latin typeface="Cambria"/>
              </a:rPr>
              <a:t>A ameaça que imaginávamos como futura já aconteceu:</a:t>
            </a:r>
            <a:r>
              <a:rPr sz="1250" b="0">
                <a:solidFill>
                  <a:srgbClr val="1E2B2A"/>
                </a:solidFill>
                <a:latin typeface="Calibri"/>
              </a:rPr>
              <a:t> antecipamos que o ERP poderia acoplar um módulo de NR-1 psicossocial antes de nós, e ele acoplou em maio de 2026.</a:t>
            </a:r>
            <a:endParaRPr/>
          </a:p>
        </p:txBody>
      </p:sp>
      <p:sp>
        <p:nvSpPr>
          <p:cNvPr id="1986012528" name="TextBox 5"/>
          <p:cNvSpPr txBox="1"/>
          <p:nvPr/>
        </p:nvSpPr>
        <p:spPr bwMode="auto">
          <a:xfrm flipH="0" flipV="0">
            <a:off x="564766" y="2175095"/>
            <a:ext cx="10681819" cy="36159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defRPr/>
            </a:pPr>
            <a:r>
              <a:rPr sz="1250" b="1">
                <a:solidFill>
                  <a:srgbClr val="1E2B2A"/>
                </a:solidFill>
                <a:latin typeface="Cambria"/>
              </a:rPr>
              <a:t>O diferencial.</a:t>
            </a:r>
            <a:r>
              <a:rPr sz="1250" b="0">
                <a:solidFill>
                  <a:srgbClr val="1E2B2A"/>
                </a:solidFill>
                <a:latin typeface="Calibri"/>
              </a:rPr>
              <a:t> "Antecipar" e "Conformidade" já têm dono. O que ninguém oferece é a </a:t>
            </a:r>
            <a:r>
              <a:rPr sz="1250" b="1">
                <a:solidFill>
                  <a:srgbClr val="1E2B2A"/>
                </a:solidFill>
                <a:latin typeface="Cambria"/>
              </a:rPr>
              <a:t>combinação</a:t>
            </a:r>
            <a:r>
              <a:rPr sz="1250" b="0">
                <a:solidFill>
                  <a:srgbClr val="1E2B2A"/>
                </a:solidFill>
                <a:latin typeface="Calibri"/>
              </a:rPr>
              <a:t>: score </a:t>
            </a:r>
            <a:r>
              <a:rPr sz="1250" b="1">
                <a:solidFill>
                  <a:srgbClr val="1E2B2A"/>
                </a:solidFill>
                <a:latin typeface="Cambria"/>
              </a:rPr>
              <a:t>por motorista</a:t>
            </a:r>
            <a:r>
              <a:rPr sz="1250" b="0">
                <a:solidFill>
                  <a:srgbClr val="1E2B2A"/>
                </a:solidFill>
                <a:latin typeface="Calibri"/>
              </a:rPr>
              <a:t>, </a:t>
            </a:r>
            <a:r>
              <a:rPr sz="1250" b="1">
                <a:solidFill>
                  <a:srgbClr val="1E2B2A"/>
                </a:solidFill>
                <a:latin typeface="Cambria"/>
              </a:rPr>
              <a:t>horizonte de 24–72h</a:t>
            </a:r>
            <a:r>
              <a:rPr sz="1250" b="0">
                <a:solidFill>
                  <a:srgbClr val="1E2B2A"/>
                </a:solidFill>
                <a:latin typeface="Calibri"/>
              </a:rPr>
              <a:t>, </a:t>
            </a:r>
            <a:r>
              <a:rPr sz="1250" b="1">
                <a:solidFill>
                  <a:srgbClr val="1E2B2A"/>
                </a:solidFill>
                <a:latin typeface="Cambria"/>
              </a:rPr>
              <a:t>instrumento clínico validado</a:t>
            </a:r>
            <a:r>
              <a:rPr sz="1250" b="0">
                <a:solidFill>
                  <a:srgbClr val="1E2B2A"/>
                </a:solidFill>
                <a:latin typeface="Calibri"/>
              </a:rPr>
              <a:t> e uma </a:t>
            </a:r>
            <a:r>
              <a:rPr sz="1250" b="1">
                <a:solidFill>
                  <a:srgbClr val="1E2B2A"/>
                </a:solidFill>
                <a:latin typeface="Cambria"/>
              </a:rPr>
              <a:t>camada de saúde que o gestor não enxerga</a:t>
            </a:r>
            <a:r>
              <a:rPr sz="1250" b="0">
                <a:solidFill>
                  <a:srgbClr val="1E2B2A"/>
                </a:solidFill>
                <a:latin typeface="Calibri"/>
              </a:rPr>
              <a:t>.</a:t>
            </a:r>
            <a:endParaRPr/>
          </a:p>
        </p:txBody>
      </p:sp>
      <p:graphicFrame>
        <p:nvGraphicFramePr>
          <p:cNvPr id="1146651140" name="Table 6"/>
          <p:cNvGraphicFramePr>
            <a:graphicFrameLocks xmlns:a="http://schemas.openxmlformats.org/drawingml/2006/main" noGrp="1"/>
          </p:cNvGraphicFramePr>
          <p:nvPr/>
        </p:nvGraphicFramePr>
        <p:xfrm rot="0">
          <a:off x="513917" y="2872659"/>
          <a:ext cx="5391758" cy="2002663"/>
        </p:xfrm>
        <a:graphic>
          <a:graphicData uri="http://schemas.openxmlformats.org/drawingml/2006/table">
            <a:tbl>
              <a:tblPr firstRow="1" firstCol="0" lastRow="0" lastCol="0" bandRow="0" bandCol="0">
                <a:tableStyleId>{5C22544A-7EE6-4342-B048-85BDC9FD1C3A}</a:tableStyleId>
              </a:tblPr>
              <a:tblGrid>
                <a:gridCol w="1800000"/>
                <a:gridCol w="3591757"/>
              </a:tblGrid>
              <a:tr h="316992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Critério</a:t>
                      </a:r>
                      <a:endParaRPr/>
                    </a:p>
                  </a:txBody>
                  <a:tcPr marL="73152" marR="73152" marT="22860" marB="22860" anchor="ctr">
                    <a:solidFill>
                      <a:srgbClr val="123138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Veredito</a:t>
                      </a:r>
                      <a:endParaRPr/>
                    </a:p>
                  </a:txBody>
                  <a:tcPr marL="73152" marR="73152" marT="22860" marB="22860" anchor="ctr">
                    <a:solidFill>
                      <a:srgbClr val="123138"/>
                    </a:solidFill>
                  </a:tcPr>
                </a:tc>
              </a:tr>
              <a:tr h="688467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1">
                          <a:solidFill>
                            <a:srgbClr val="123138"/>
                          </a:solidFill>
                          <a:latin typeface="Cambria"/>
                        </a:rPr>
                        <a:t>Difícil de copiar</a:t>
                      </a:r>
                      <a:endParaRPr/>
                    </a:p>
                  </a:txBody>
                  <a:tcPr marL="73152" marR="73152" marT="22860" marB="22860" anchor="ctr"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O método clínico e a base longitudinal, sim. Mas a base só existe depois de operar, e a Praxio já tem os clientes</a:t>
                      </a:r>
                      <a:endParaRPr/>
                    </a:p>
                  </a:txBody>
                  <a:tcPr marL="73152" marR="73152" marT="22860" marB="22860" anchor="ctr"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8467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1">
                          <a:solidFill>
                            <a:srgbClr val="123138"/>
                          </a:solidFill>
                          <a:latin typeface="Cambria"/>
                        </a:rPr>
                        <a:t>Relevante para o cliente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A obrigação é real. Se o gestor paga por </a:t>
                      </a:r>
                      <a:r>
                        <a:rPr sz="1150" b="1">
                          <a:solidFill>
                            <a:srgbClr val="123138"/>
                          </a:solidFill>
                          <a:latin typeface="Cambria"/>
                        </a:rPr>
                        <a:t>predição individual</a:t>
                      </a: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 em vez do painel por área que já está no ERP dele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8737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1">
                          <a:solidFill>
                            <a:srgbClr val="123138"/>
                          </a:solidFill>
                          <a:latin typeface="Cambria"/>
                        </a:rPr>
                        <a:t>Escalável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Sem hardware novo, sobre dado que a empresa já coleta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75747032" name="TextBox 19"/>
          <p:cNvSpPr txBox="1"/>
          <p:nvPr/>
        </p:nvSpPr>
        <p:spPr bwMode="auto">
          <a:xfrm>
            <a:off x="566928" y="6528816"/>
            <a:ext cx="11058558" cy="12227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defRPr/>
            </a:pPr>
            <a:r>
              <a:rPr lang="en-US" sz="800" b="0" i="0" u="none" strike="noStrike" cap="none" spc="0">
                <a:solidFill>
                  <a:srgbClr val="9AA6A3"/>
                </a:solidFill>
                <a:latin typeface="Calibri"/>
                <a:ea typeface="Calibri"/>
                <a:cs typeface="Calibri"/>
              </a:rPr>
              <a:t>CONFIDENCIAL — material acadêmico em elaboração · QAP Care</a:t>
            </a:r>
            <a:endParaRPr/>
          </a:p>
        </p:txBody>
      </p:sp>
      <p:graphicFrame>
        <p:nvGraphicFramePr>
          <p:cNvPr id="11678212" name="Table 6"/>
          <p:cNvGraphicFramePr>
            <a:graphicFrameLocks xmlns:a="http://schemas.openxmlformats.org/drawingml/2006/main"/>
          </p:cNvGraphicFramePr>
          <p:nvPr/>
        </p:nvGraphicFramePr>
        <p:xfrm rot="0">
          <a:off x="6233728" y="2872659"/>
          <a:ext cx="5391757" cy="2363850"/>
        </p:xfrm>
        <a:graphic>
          <a:graphicData uri="http://schemas.openxmlformats.org/drawingml/2006/table">
            <a:tbl>
              <a:tblPr firstRow="1" firstCol="0" lastRow="0" lastCol="0" bandRow="0" bandCol="0">
                <a:tableStyleId>{5C22544A-7EE6-4342-B048-85BDC9FD1C3A}</a:tableStyleId>
              </a:tblPr>
              <a:tblGrid>
                <a:gridCol w="1800000"/>
                <a:gridCol w="3591757"/>
              </a:tblGrid>
              <a:tr h="316992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Canais</a:t>
                      </a:r>
                      <a:endParaRPr/>
                    </a:p>
                  </a:txBody>
                  <a:tcPr marL="73152" marR="73152" marT="22860" marB="22860" anchor="ctr">
                    <a:solidFill>
                      <a:srgbClr val="123138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lang="en-US" sz="1200" b="1" i="0" u="none" strike="noStrike" cap="none" spc="0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</a:rPr>
                        <a:t>Conteúdo</a:t>
                      </a:r>
                      <a:endParaRPr/>
                    </a:p>
                  </a:txBody>
                  <a:tcPr marL="73152" marR="73152" marT="22860" marB="22860" anchor="ctr">
                    <a:solidFill>
                      <a:srgbClr val="123138"/>
                    </a:solidFill>
                  </a:tcPr>
                </a:tc>
              </a:tr>
              <a:tr h="688467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lang="en-US" sz="1150" b="1" i="0" u="none" strike="noStrike" cap="none" spc="0">
                          <a:solidFill>
                            <a:srgbClr val="1E2B2A"/>
                          </a:solidFill>
                          <a:latin typeface="Cambria"/>
                          <a:ea typeface="Cambria"/>
                          <a:cs typeface="Cambria"/>
                        </a:rPr>
                        <a:t>Direto ao gestor de SST</a:t>
                      </a:r>
                      <a:endParaRPr/>
                    </a:p>
                  </a:txBody>
                  <a:tcPr marL="73152" marR="73152" marT="22860" marB="22860" anchor="ctr"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lang="en-US" sz="1150" b="0" i="0" u="none" strike="noStrike" cap="none" spc="0">
                          <a:solidFill>
                            <a:srgbClr val="1E2B2A"/>
                          </a:solidFill>
                          <a:latin typeface="Calibri"/>
                          <a:ea typeface="Calibri"/>
                          <a:cs typeface="Calibri"/>
                        </a:rPr>
                        <a:t>Tem a dor e o orçamento; ciclo longo</a:t>
                      </a:r>
                      <a:endParaRPr/>
                    </a:p>
                  </a:txBody>
                  <a:tcPr marL="73152" marR="73152" marT="22860" marB="22860" anchor="ctr"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8467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lang="en-US" sz="1150" b="1" i="0" u="none" strike="noStrike" cap="none" spc="0">
                          <a:solidFill>
                            <a:srgbClr val="1E2B2A"/>
                          </a:solidFill>
                          <a:latin typeface="Cambria"/>
                          <a:ea typeface="Cambria"/>
                          <a:cs typeface="Cambria"/>
                        </a:rPr>
                        <a:t>Sindicato patronal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lang="en-US" sz="1150" b="0" i="0" u="none" strike="noStrike" cap="none" spc="0">
                          <a:solidFill>
                            <a:srgbClr val="1E2B2A"/>
                          </a:solidFill>
                          <a:latin typeface="Calibri"/>
                          <a:ea typeface="Calibri"/>
                          <a:cs typeface="Calibri"/>
                        </a:rPr>
                        <a:t>Legitima e alcança muitos. E é </a:t>
                      </a:r>
                      <a:r>
                        <a:rPr lang="en-US" sz="1150" b="1" i="0" u="none" strike="noStrike" cap="none" spc="0">
                          <a:solidFill>
                            <a:srgbClr val="1E2B2A"/>
                          </a:solidFill>
                          <a:latin typeface="Cambria"/>
                          <a:ea typeface="Cambria"/>
                          <a:cs typeface="Cambria"/>
                        </a:rPr>
                        <a:t>também substituto</a:t>
                      </a:r>
                      <a:r>
                        <a:rPr lang="en-US" sz="1150" b="0" i="0" u="none" strike="noStrike" cap="none" spc="0">
                          <a:solidFill>
                            <a:srgbClr val="1E2B2A"/>
                          </a:solidFill>
                          <a:latin typeface="Calibri"/>
                          <a:ea typeface="Calibri"/>
                          <a:cs typeface="Calibri"/>
                        </a:rPr>
                        <a:t>: o SETCESP já distribui questionário de risco psicossocial de graça aos associados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8737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lang="en-US" sz="1150" b="1" i="0" u="none" strike="noStrike" cap="none" spc="0">
                          <a:solidFill>
                            <a:srgbClr val="1E2B2A"/>
                          </a:solidFill>
                          <a:latin typeface="Cambria"/>
                          <a:ea typeface="Cambria"/>
                          <a:cs typeface="Cambria"/>
                        </a:rPr>
                        <a:t>ERP de transporte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lang="en-US" sz="1150" b="0" i="0" u="none" strike="noStrike" cap="none" spc="0">
                          <a:solidFill>
                            <a:srgbClr val="1E2B2A"/>
                          </a:solidFill>
                          <a:latin typeface="Calibri"/>
                          <a:ea typeface="Calibri"/>
                          <a:cs typeface="Calibri"/>
                        </a:rPr>
                        <a:t>Distribuição onde o dado está, e o concorrente mais próximo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8737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lang="en-US" sz="1150" b="1" i="0" u="none" strike="noStrike" cap="none" spc="0">
                          <a:solidFill>
                            <a:srgbClr val="1E2B2A"/>
                          </a:solidFill>
                          <a:latin typeface="Cambria"/>
                          <a:ea typeface="Cambria"/>
                          <a:cs typeface="Cambria"/>
                        </a:rPr>
                        <a:t>Seguradora de frota</a:t>
                      </a:r>
                      <a:r>
                        <a:rPr lang="en-US" sz="1150" b="0" i="0" u="none" strike="noStrike" cap="none" spc="0">
                          <a:solidFill>
                            <a:srgbClr val="1E2B2A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endParaRPr sz="1150" b="1">
                        <a:solidFill>
                          <a:srgbClr val="123138"/>
                        </a:solidFill>
                        <a:latin typeface="Cambria"/>
                      </a:endParaRP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lang="en-US" sz="1150" b="0" i="0" u="none" strike="noStrike" cap="none" spc="0">
                          <a:solidFill>
                            <a:srgbClr val="1E2B2A"/>
                          </a:solidFill>
                          <a:latin typeface="Calibri"/>
                          <a:ea typeface="Calibri"/>
                          <a:cs typeface="Calibri"/>
                        </a:rPr>
                        <a:t>Interesse direto em menos sinistro</a:t>
                      </a:r>
                      <a:endParaRPr sz="1150" b="0">
                        <a:solidFill>
                          <a:srgbClr val="1E2B2A"/>
                        </a:solidFill>
                        <a:latin typeface="Calibri"/>
                      </a:endParaRP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5542397" name="TextBox 1"/>
          <p:cNvSpPr txBox="1"/>
          <p:nvPr/>
        </p:nvSpPr>
        <p:spPr bwMode="auto">
          <a:xfrm>
            <a:off x="566928" y="402336"/>
            <a:ext cx="9418320" cy="6583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sz="3100" b="1">
                <a:solidFill>
                  <a:srgbClr val="123138"/>
                </a:solidFill>
                <a:latin typeface="Cambria"/>
              </a:rPr>
              <a:t>O que é evidência e o que é hipótese</a:t>
            </a:r>
            <a:endParaRPr/>
          </a:p>
        </p:txBody>
      </p:sp>
      <p:sp>
        <p:nvSpPr>
          <p:cNvPr id="60965412" name="Rounded Rectangle 4"/>
          <p:cNvSpPr/>
          <p:nvPr/>
        </p:nvSpPr>
        <p:spPr bwMode="auto">
          <a:xfrm flipH="0" flipV="0">
            <a:off x="6327313" y="5182574"/>
            <a:ext cx="5391758" cy="1188267"/>
          </a:xfrm>
          <a:prstGeom prst="roundRect">
            <a:avLst>
              <a:gd name="adj" fmla="val 7000"/>
            </a:avLst>
          </a:prstGeom>
          <a:solidFill>
            <a:srgbClr val="F5E7E1"/>
          </a:solidFill>
          <a:ln w="12700">
            <a:solidFill>
              <a:srgbClr val="DD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4301505" name="TextBox 6"/>
          <p:cNvSpPr txBox="1"/>
          <p:nvPr/>
        </p:nvSpPr>
        <p:spPr bwMode="auto">
          <a:xfrm flipH="0" flipV="0">
            <a:off x="6569521" y="5429738"/>
            <a:ext cx="4908062" cy="69393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defRPr/>
            </a:pPr>
            <a:r>
              <a:rPr lang="en-US" sz="1200" b="1" i="0" u="none" strike="noStrike" cap="none" spc="0">
                <a:solidFill>
                  <a:srgbClr val="123138"/>
                </a:solidFill>
                <a:latin typeface="Cambria"/>
                <a:ea typeface="Cambria"/>
                <a:cs typeface="Cambria"/>
              </a:rPr>
              <a:t>A H2 é a que mais pesa</a:t>
            </a:r>
            <a:r>
              <a:rPr sz="1200" b="0">
                <a:solidFill>
                  <a:srgbClr val="1E2B2A"/>
                </a:solidFill>
                <a:latin typeface="Calibri"/>
              </a:rPr>
              <a:t>, pois decide se vendemos </a:t>
            </a:r>
            <a:r>
              <a:rPr sz="1200" b="1">
                <a:solidFill>
                  <a:srgbClr val="1E2B2A"/>
                </a:solidFill>
                <a:latin typeface="Cambria"/>
              </a:rPr>
              <a:t>saúde</a:t>
            </a:r>
            <a:r>
              <a:rPr sz="1200" b="0">
                <a:solidFill>
                  <a:srgbClr val="1E2B2A"/>
                </a:solidFill>
                <a:latin typeface="Calibri"/>
              </a:rPr>
              <a:t> ou </a:t>
            </a:r>
            <a:r>
              <a:rPr sz="1200" b="1">
                <a:solidFill>
                  <a:srgbClr val="1E2B2A"/>
                </a:solidFill>
                <a:latin typeface="Cambria"/>
              </a:rPr>
              <a:t>conformidade</a:t>
            </a:r>
            <a:r>
              <a:rPr sz="1200" b="0">
                <a:solidFill>
                  <a:srgbClr val="1E2B2A"/>
                </a:solidFill>
                <a:latin typeface="Calibri"/>
              </a:rPr>
              <a:t>, duas propostas, dois preços, dois concorrentes. </a:t>
            </a:r>
            <a:r>
              <a:rPr sz="1200" b="1">
                <a:solidFill>
                  <a:srgbClr val="1E2B2A"/>
                </a:solidFill>
                <a:latin typeface="Cambria"/>
              </a:rPr>
              <a:t>A H7 é a única fatal</a:t>
            </a:r>
            <a:r>
              <a:rPr sz="1200" b="0">
                <a:solidFill>
                  <a:srgbClr val="1E2B2A"/>
                </a:solidFill>
                <a:latin typeface="Calibri"/>
              </a:rPr>
              <a:t>, as outras mudam o produto, essa decide se ele existe. E é a única que </a:t>
            </a:r>
            <a:r>
              <a:rPr sz="1200" b="1">
                <a:solidFill>
                  <a:srgbClr val="1E2B2A"/>
                </a:solidFill>
                <a:latin typeface="Cambria"/>
              </a:rPr>
              <a:t>não depende de terceiros</a:t>
            </a:r>
            <a:r>
              <a:rPr sz="1200" b="0">
                <a:solidFill>
                  <a:srgbClr val="1E2B2A"/>
                </a:solidFill>
                <a:latin typeface="Calibri"/>
              </a:rPr>
              <a:t>: sai de dado sintético e do motorista</a:t>
            </a:r>
            <a:endParaRPr/>
          </a:p>
        </p:txBody>
      </p:sp>
      <p:sp>
        <p:nvSpPr>
          <p:cNvPr id="101444090" name="TextBox 7"/>
          <p:cNvSpPr txBox="1"/>
          <p:nvPr/>
        </p:nvSpPr>
        <p:spPr bwMode="auto">
          <a:xfrm>
            <a:off x="566928" y="6528816"/>
            <a:ext cx="11057838" cy="21945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defRPr/>
            </a:pPr>
            <a:r>
              <a:rPr sz="800" b="0">
                <a:solidFill>
                  <a:srgbClr val="9AA6A3"/>
                </a:solidFill>
                <a:latin typeface="Calibri"/>
              </a:rPr>
              <a:t>CONFIDENCIAL — material acadêmico em elaboração · QAP Care</a:t>
            </a:r>
            <a:endParaRPr/>
          </a:p>
        </p:txBody>
      </p:sp>
      <p:graphicFrame>
        <p:nvGraphicFramePr>
          <p:cNvPr id="67754717" name="Table 6"/>
          <p:cNvGraphicFramePr>
            <a:graphicFrameLocks xmlns:a="http://schemas.openxmlformats.org/drawingml/2006/main"/>
          </p:cNvGraphicFramePr>
          <p:nvPr/>
        </p:nvGraphicFramePr>
        <p:xfrm rot="0">
          <a:off x="1160015" y="1674996"/>
          <a:ext cx="10316849" cy="3145544"/>
        </p:xfrm>
        <a:graphic>
          <a:graphicData uri="http://schemas.openxmlformats.org/drawingml/2006/table">
            <a:tbl>
              <a:tblPr firstRow="1" firstCol="0" lastRow="0" lastCol="0" bandRow="0" bandCol="0">
                <a:tableStyleId>{5C22544A-7EE6-4342-B048-85BDC9FD1C3A}</a:tableStyleId>
              </a:tblPr>
              <a:tblGrid>
                <a:gridCol w="720000"/>
                <a:gridCol w="4410000"/>
                <a:gridCol w="5186849"/>
              </a:tblGrid>
              <a:tr h="391026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#</a:t>
                      </a:r>
                      <a:endParaRPr/>
                    </a:p>
                  </a:txBody>
                  <a:tcPr marL="73152" marR="73152" marT="22860" marB="22860" anchor="ctr">
                    <a:solidFill>
                      <a:srgbClr val="123138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Hipótese</a:t>
                      </a:r>
                      <a:endParaRPr/>
                    </a:p>
                  </a:txBody>
                  <a:tcPr marL="73152" marR="73152" marT="22860" marB="22860" anchor="ctr">
                    <a:solidFill>
                      <a:srgbClr val="123138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Se cair, o que muda no negócio</a:t>
                      </a:r>
                      <a:endParaRPr/>
                    </a:p>
                  </a:txBody>
                  <a:tcPr marL="73152" marR="73152" marT="22860" marB="22860" anchor="ctr">
                    <a:solidFill>
                      <a:srgbClr val="123138"/>
                    </a:solidFill>
                  </a:tcPr>
                </a:tc>
              </a:tr>
              <a:tr h="598973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1">
                          <a:solidFill>
                            <a:srgbClr val="123138"/>
                          </a:solidFill>
                          <a:latin typeface="Cambria"/>
                        </a:rPr>
                        <a:t>H2</a:t>
                      </a:r>
                      <a:endParaRPr/>
                    </a:p>
                  </a:txBody>
                  <a:tcPr marL="73152" marR="73152" marT="22860" marB="22860" anchor="ctr"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O gestor paga por </a:t>
                      </a:r>
                      <a:r>
                        <a:rPr sz="1150" b="1">
                          <a:solidFill>
                            <a:srgbClr val="123138"/>
                          </a:solidFill>
                          <a:latin typeface="Cambria"/>
                        </a:rPr>
                        <a:t>antecipar</a:t>
                      </a: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, não só pelo documento</a:t>
                      </a:r>
                      <a:endParaRPr/>
                    </a:p>
                  </a:txBody>
                  <a:tcPr marL="73152" marR="73152" marT="22860" marB="22860" anchor="ctr"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Vira gerador de PGR com o score como acessório</a:t>
                      </a:r>
                      <a:endParaRPr/>
                    </a:p>
                  </a:txBody>
                  <a:tcPr marL="73152" marR="73152" marT="22860" marB="22860" anchor="ctr"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1">
                          <a:solidFill>
                            <a:srgbClr val="123138"/>
                          </a:solidFill>
                          <a:latin typeface="Cambria"/>
                        </a:rPr>
                        <a:t>H5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A escala é montada hoje </a:t>
                      </a:r>
                      <a:r>
                        <a:rPr sz="1150" b="1">
                          <a:solidFill>
                            <a:srgbClr val="123138"/>
                          </a:solidFill>
                          <a:latin typeface="Cambria"/>
                        </a:rPr>
                        <a:t>sem</a:t>
                      </a: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 olhar o histórico de jornada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O ganho marginal encolhe: a venda passa a ser sobre precisão, não sobre existir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1">
                          <a:solidFill>
                            <a:srgbClr val="123138"/>
                          </a:solidFill>
                          <a:latin typeface="Cambria"/>
                        </a:rPr>
                        <a:t>H6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O motorista aceita o check-in em troca da rota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A camada de saúde não se forma; o produto fica de pé no operacional e perde o que o separa da telemetria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1">
                          <a:solidFill>
                            <a:srgbClr val="123138"/>
                          </a:solidFill>
                          <a:latin typeface="Cambria"/>
                        </a:rPr>
                        <a:t>H7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O dado operacional já coletado sustenta a predição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1">
                          <a:solidFill>
                            <a:srgbClr val="123138"/>
                          </a:solidFill>
                          <a:latin typeface="Cambria"/>
                        </a:rPr>
                        <a:t>Fatal.</a:t>
                      </a: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 Sem isso não há produto preditivo, só um gerador de documento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5545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1">
                          <a:solidFill>
                            <a:srgbClr val="123138"/>
                          </a:solidFill>
                          <a:latin typeface="Cambria"/>
                        </a:rPr>
                        <a:t>H8, H9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Sindicato e ERP funcionam como canal; o SESMT vê o score como apoio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Volta para venda direta, com ciclo e custo maiores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2614221" name="TextBox 1"/>
          <p:cNvSpPr txBox="1"/>
          <p:nvPr/>
        </p:nvSpPr>
        <p:spPr bwMode="auto">
          <a:xfrm>
            <a:off x="566928" y="402336"/>
            <a:ext cx="9418320" cy="6583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sz="3100" b="1">
                <a:solidFill>
                  <a:srgbClr val="123138"/>
                </a:solidFill>
                <a:latin typeface="Cambria"/>
              </a:rPr>
              <a:t>Plano de validação</a:t>
            </a:r>
            <a:endParaRPr/>
          </a:p>
        </p:txBody>
      </p:sp>
      <p:sp>
        <p:nvSpPr>
          <p:cNvPr id="274840429" name="Rounded Rectangle 4"/>
          <p:cNvSpPr/>
          <p:nvPr/>
        </p:nvSpPr>
        <p:spPr bwMode="auto">
          <a:xfrm flipH="0" flipV="0">
            <a:off x="6233006" y="4779776"/>
            <a:ext cx="5274369" cy="1528889"/>
          </a:xfrm>
          <a:prstGeom prst="roundRect">
            <a:avLst>
              <a:gd name="adj" fmla="val 7000"/>
            </a:avLst>
          </a:prstGeom>
          <a:solidFill>
            <a:srgbClr val="F5E7E1"/>
          </a:solidFill>
          <a:ln w="12700">
            <a:solidFill>
              <a:srgbClr val="DD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240140" name="TextBox 6"/>
          <p:cNvSpPr txBox="1"/>
          <p:nvPr/>
        </p:nvSpPr>
        <p:spPr bwMode="auto">
          <a:xfrm>
            <a:off x="6479894" y="5115700"/>
            <a:ext cx="4899062" cy="85704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defRPr/>
            </a:pPr>
            <a:r>
              <a:rPr lang="en-US" sz="1200" b="1" i="0" u="none" strike="noStrike" cap="none" spc="0">
                <a:solidFill>
                  <a:srgbClr val="1E2B2A"/>
                </a:solidFill>
                <a:latin typeface="Cambria"/>
                <a:ea typeface="Cambria"/>
                <a:cs typeface="Cambria"/>
              </a:rPr>
              <a:t>O que já é evidência</a:t>
            </a:r>
            <a:r>
              <a:rPr lang="en-US" sz="1200" b="0" i="0" u="none" strike="noStrike" cap="none" spc="0">
                <a:solidFill>
                  <a:srgbClr val="1E2B2A"/>
                </a:solidFill>
                <a:latin typeface="Calibri"/>
                <a:ea typeface="Calibri"/>
                <a:cs typeface="Calibri"/>
              </a:rPr>
              <a:t> veio da Entrega 1: a letalidade do sono ao volante, o limiar das 12h com razão de chances 3,33, e o descanso cobrado por punição. </a:t>
            </a:r>
            <a:r>
              <a:rPr lang="en-US" sz="1200" b="1" i="0" u="none" strike="noStrike" cap="none" spc="0">
                <a:solidFill>
                  <a:srgbClr val="1E2B2A"/>
                </a:solidFill>
                <a:latin typeface="Cambria"/>
                <a:ea typeface="Cambria"/>
                <a:cs typeface="Cambria"/>
              </a:rPr>
              <a:t>O que não é:</a:t>
            </a:r>
            <a:r>
              <a:rPr lang="en-US" sz="1200" b="0" i="0" u="none" strike="noStrike" cap="none" spc="0">
                <a:solidFill>
                  <a:srgbClr val="1E2B2A"/>
                </a:solidFill>
                <a:latin typeface="Calibri"/>
                <a:ea typeface="Calibri"/>
                <a:cs typeface="Calibri"/>
              </a:rPr>
              <a:t> tudo sobre como o gestor decide e pelo que paga. E </a:t>
            </a:r>
            <a:r>
              <a:rPr lang="en-US" sz="1200" b="1" i="0" u="none" strike="noStrike" cap="none" spc="0">
                <a:solidFill>
                  <a:srgbClr val="1E2B2A"/>
                </a:solidFill>
                <a:latin typeface="Cambria"/>
                <a:ea typeface="Cambria"/>
                <a:cs typeface="Cambria"/>
              </a:rPr>
              <a:t>o que foi validado sem depender de ninguém</a:t>
            </a:r>
            <a:r>
              <a:rPr lang="en-US" sz="1200" b="0" i="0" u="none" strike="noStrike" cap="none" spc="0">
                <a:solidFill>
                  <a:srgbClr val="1E2B2A"/>
                </a:solidFill>
                <a:latin typeface="Calibri"/>
                <a:ea typeface="Calibri"/>
                <a:cs typeface="Calibri"/>
              </a:rPr>
              <a:t> nesta etapa: a matriz de concorrência.</a:t>
            </a:r>
            <a:endParaRPr/>
          </a:p>
        </p:txBody>
      </p:sp>
      <p:sp>
        <p:nvSpPr>
          <p:cNvPr id="1854519511" name="TextBox 8"/>
          <p:cNvSpPr txBox="1"/>
          <p:nvPr/>
        </p:nvSpPr>
        <p:spPr bwMode="auto">
          <a:xfrm>
            <a:off x="566928" y="6528816"/>
            <a:ext cx="11057838" cy="21945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defRPr/>
            </a:pPr>
            <a:r>
              <a:rPr sz="800" b="0">
                <a:solidFill>
                  <a:srgbClr val="9AA6A3"/>
                </a:solidFill>
                <a:latin typeface="Calibri"/>
              </a:rPr>
              <a:t>CONFIDENCIAL — material acadêmico em elaboração · QAP Care</a:t>
            </a:r>
            <a:endParaRPr/>
          </a:p>
        </p:txBody>
      </p:sp>
      <p:graphicFrame>
        <p:nvGraphicFramePr>
          <p:cNvPr id="1368426153" name="Table 6"/>
          <p:cNvGraphicFramePr>
            <a:graphicFrameLocks xmlns:a="http://schemas.openxmlformats.org/drawingml/2006/main"/>
          </p:cNvGraphicFramePr>
          <p:nvPr/>
        </p:nvGraphicFramePr>
        <p:xfrm rot="0">
          <a:off x="1121156" y="1715526"/>
          <a:ext cx="9949380" cy="2605545"/>
        </p:xfrm>
        <a:graphic>
          <a:graphicData uri="http://schemas.openxmlformats.org/drawingml/2006/table">
            <a:tbl>
              <a:tblPr firstRow="1" firstCol="0" lastRow="0" lastCol="0" bandRow="0" bandCol="0">
                <a:tableStyleId>{5C22544A-7EE6-4342-B048-85BDC9FD1C3A}</a:tableStyleId>
              </a:tblPr>
              <a:tblGrid>
                <a:gridCol w="1080000"/>
                <a:gridCol w="5910301"/>
                <a:gridCol w="1650487"/>
                <a:gridCol w="1308591"/>
              </a:tblGrid>
              <a:tr h="391027"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Hipótese</a:t>
                      </a:r>
                      <a:endParaRPr/>
                    </a:p>
                  </a:txBody>
                  <a:tcPr marL="73152" marR="73152" marT="22860" marB="22860" anchor="ctr">
                    <a:solidFill>
                      <a:srgbClr val="123138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Como se resolve</a:t>
                      </a:r>
                      <a:endParaRPr/>
                    </a:p>
                  </a:txBody>
                  <a:tcPr marL="73152" marR="73152" marT="22860" marB="22860" anchor="ctr">
                    <a:solidFill>
                      <a:srgbClr val="123138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Depende de</a:t>
                      </a:r>
                      <a:endParaRPr/>
                    </a:p>
                  </a:txBody>
                  <a:tcPr marL="73152" marR="73152" marT="22860" marB="22860" anchor="ctr">
                    <a:solidFill>
                      <a:srgbClr val="123138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defRPr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Quando</a:t>
                      </a:r>
                      <a:endParaRPr/>
                    </a:p>
                  </a:txBody>
                  <a:tcPr marL="73152" marR="73152" marT="22860" marB="22860" anchor="ctr">
                    <a:solidFill>
                      <a:srgbClr val="123138"/>
                    </a:solidFill>
                  </a:tcPr>
                </a:tc>
              </a:tr>
              <a:tr h="598973">
                <a:tc>
                  <a:txBody>
                    <a:bodyPr/>
                    <a:p>
                      <a:pPr algn="l">
                        <a:lnSpc>
                          <a:spcPct val="90000"/>
                        </a:lnSpc>
                        <a:defRPr/>
                      </a:pPr>
                      <a:r>
                        <a:rPr sz="1150" b="1">
                          <a:solidFill>
                            <a:srgbClr val="123138"/>
                          </a:solidFill>
                          <a:latin typeface="Cambria"/>
                        </a:rPr>
                        <a:t>H2</a:t>
                      </a:r>
                      <a:r>
                        <a:rPr sz="1150" b="1">
                          <a:solidFill>
                            <a:srgbClr val="1E2B2A"/>
                          </a:solidFill>
                          <a:latin typeface="Calibri"/>
                        </a:rPr>
                        <a:t>, H5</a:t>
                      </a:r>
                      <a:endParaRPr/>
                    </a:p>
                  </a:txBody>
                  <a:tcPr marL="73152" marR="73152" marT="22860" marB="22860" anchor="ctr"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5 entrevistas com gestor de SST de transportadora de carga</a:t>
                      </a:r>
                      <a:endParaRPr/>
                    </a:p>
                  </a:txBody>
                  <a:tcPr marL="73152" marR="73152" marT="22860" marB="22860" anchor="ctr"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Agenda de terceiros</a:t>
                      </a:r>
                      <a:endParaRPr/>
                    </a:p>
                  </a:txBody>
                  <a:tcPr marL="73152" marR="73152" marT="22860" marB="22860" anchor="ctr"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Entrega 3</a:t>
                      </a:r>
                      <a:endParaRPr/>
                    </a:p>
                  </a:txBody>
                  <a:tcPr marL="73152" marR="73152" marT="22860" marB="22860" anchor="ctr"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/>
                    <a:p>
                      <a:pPr algn="l">
                        <a:lnSpc>
                          <a:spcPct val="90000"/>
                        </a:lnSpc>
                        <a:defRPr/>
                      </a:pPr>
                      <a:r>
                        <a:rPr sz="1150" b="1">
                          <a:solidFill>
                            <a:srgbClr val="123138"/>
                          </a:solidFill>
                          <a:latin typeface="Cambria"/>
                        </a:rPr>
                        <a:t>H6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3 entrevistas com motorista + protótipo da tela de rota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Agenda; depois, protótipo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E3 / E4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p>
                      <a:pPr algn="l">
                        <a:lnSpc>
                          <a:spcPct val="90000"/>
                        </a:lnSpc>
                        <a:defRPr/>
                      </a:pPr>
                      <a:r>
                        <a:rPr sz="1150" b="1">
                          <a:solidFill>
                            <a:srgbClr val="123138"/>
                          </a:solidFill>
                          <a:latin typeface="Cambria"/>
                        </a:rPr>
                        <a:t>H8, H9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Conversa exploratória com sindicato patronal, com um ERP e com médico do trabalho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Agenda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Entrega 3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5545">
                <a:tc>
                  <a:txBody>
                    <a:bodyPr/>
                    <a:p>
                      <a:pPr algn="l"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Concorrência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Conferência em fonte pública primária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90000"/>
                        </a:lnSpc>
                        <a:defRPr/>
                      </a:pPr>
                      <a:r>
                        <a:rPr sz="1150" b="1">
                          <a:solidFill>
                            <a:srgbClr val="123138"/>
                          </a:solidFill>
                          <a:latin typeface="Cambria"/>
                        </a:rPr>
                        <a:t>só de nós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90000"/>
                        </a:lnSpc>
                        <a:defRPr/>
                      </a:pPr>
                      <a:r>
                        <a:rPr sz="1150" b="0">
                          <a:solidFill>
                            <a:srgbClr val="1E2B2A"/>
                          </a:solidFill>
                          <a:latin typeface="Calibri"/>
                        </a:rPr>
                        <a:t>Feito nesta entrega</a:t>
                      </a:r>
                      <a:endParaRPr/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95560" y="182880"/>
            <a:ext cx="1600200" cy="11887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0000"/>
              </a:lnSpc>
            </a:pPr>
            <a:r>
              <a:rPr sz="9200" b="1" i="0">
                <a:solidFill>
                  <a:srgbClr val="E7EAE8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91440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2000"/>
              </a:lnSpc>
            </a:pPr>
            <a:r>
              <a:rPr sz="1100" b="1" i="0" spc="160">
                <a:solidFill>
                  <a:srgbClr val="8F3A26"/>
                </a:solidFill>
                <a:latin typeface="Cambria"/>
              </a:rPr>
              <a:t>SEÇÃO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3"/>
            <a:ext cx="9418320" cy="6583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5000"/>
              </a:lnSpc>
            </a:pPr>
            <a:r>
              <a:rPr sz="3100" b="1" i="0">
                <a:solidFill>
                  <a:srgbClr val="123138"/>
                </a:solidFill>
                <a:latin typeface="Cambria"/>
              </a:rPr>
              <a:t>Base da Aula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11057838" cy="21945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2000"/>
              </a:lnSpc>
            </a:pPr>
            <a:r>
              <a:rPr sz="800" b="0" i="0">
                <a:solidFill>
                  <a:srgbClr val="9AA6A3"/>
                </a:solidFill>
                <a:latin typeface="Calibri"/>
              </a:rPr>
              <a:t>CONFIDENCIAL — material acadêmico em elaboração · QAP 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00000"/>
            <a:ext cx="11057838" cy="5600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2000"/>
              </a:lnSpc>
            </a:pPr>
            <a:r>
              <a:rPr sz="1100" b="1" i="0">
                <a:solidFill>
                  <a:srgbClr val="1E2B2A"/>
                </a:solidFill>
                <a:latin typeface="Cambria"/>
              </a:rPr>
              <a:t>O recorte que segue. </a:t>
            </a:r>
            <a:r>
              <a:rPr sz="1100" b="0" i="0">
                <a:solidFill>
                  <a:srgbClr val="1E2B2A"/>
                </a:solidFill>
                <a:latin typeface="Calibri"/>
              </a:rPr>
              <a:t>Fadiga e sofrimento psíquico de motoristas profissionais, em transportadoras de carga com frota própria e motoristas CLT, em contexto de jornada longa, remuneração por produção e descanso cobrado por punição. Fora: aplicativo e autônomo sem vínculo — sem empregador não há PGR. </a:t>
            </a:r>
            <a:r>
              <a:rPr sz="1100" b="0" i="1">
                <a:solidFill>
                  <a:srgbClr val="1E2B2A"/>
                </a:solidFill>
                <a:latin typeface="Calibri"/>
              </a:rPr>
              <a:t>Ilustramos com telemetria real de uma frota de ônibus: os sinais de jornada e condução são os mesmos que a frota de carga já coleta. 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30000"/>
            <a:ext cx="5450000" cy="2200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2000"/>
              </a:lnSpc>
            </a:pPr>
            <a:r>
              <a:rPr sz="1250" b="1" i="0">
                <a:solidFill>
                  <a:srgbClr val="1E2B2A"/>
                </a:solidFill>
                <a:latin typeface="Cambria"/>
              </a:rPr>
              <a:t>Hipóteses da Entrega 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2380000"/>
          <a:ext cx="5450000" cy="2010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500000"/>
                <a:gridCol w="1500000"/>
                <a:gridCol w="2450000"/>
              </a:tblGrid>
              <a:tr h="290000"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mbria"/>
                        </a:rPr>
                        <a:t>Hipótese da E1</a:t>
                      </a:r>
                    </a:p>
                  </a:txBody>
                  <a:tcPr marL="73152" marR="73152" marT="22860" marB="22860" anchor="ctr">
                    <a:solidFill>
                      <a:srgbClr val="12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mbria"/>
                        </a:rPr>
                        <a:t>O que ficou</a:t>
                      </a:r>
                    </a:p>
                  </a:txBody>
                  <a:tcPr marL="73152" marR="73152" marT="22860" marB="22860" anchor="ctr">
                    <a:solidFill>
                      <a:srgbClr val="12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mbria"/>
                        </a:rPr>
                        <a:t>Consequência para esta entrega</a:t>
                      </a:r>
                    </a:p>
                  </a:txBody>
                  <a:tcPr marL="73152" marR="73152" marT="22860" marB="22860" anchor="ctr">
                    <a:solidFill>
                      <a:srgbClr val="123138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1" i="0">
                          <a:solidFill>
                            <a:srgbClr val="123138"/>
                          </a:solidFill>
                          <a:latin typeface="Cambria"/>
                        </a:rPr>
                        <a:t>H1 · sinais aparecem dias antes</a:t>
                      </a:r>
                    </a:p>
                  </a:txBody>
                  <a:tcPr marL="73152" marR="73152" marT="22860" marB="22860" anchor="ctr"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 i="0">
                          <a:solidFill>
                            <a:srgbClr val="1E2B2A"/>
                          </a:solidFill>
                          <a:latin typeface="Calibri"/>
                        </a:rPr>
                        <a:t>🟢 sustentada, indiretamente</a:t>
                      </a:r>
                    </a:p>
                  </a:txBody>
                  <a:tcPr marL="73152" marR="73152" marT="22860" marB="22860" anchor="ctr"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 i="0">
                          <a:solidFill>
                            <a:srgbClr val="1E2B2A"/>
                          </a:solidFill>
                          <a:latin typeface="Calibri"/>
                        </a:rPr>
                        <a:t>é o que torna a </a:t>
                      </a:r>
                      <a:r>
                        <a:rPr sz="950" b="1" i="0">
                          <a:solidFill>
                            <a:srgbClr val="123138"/>
                          </a:solidFill>
                          <a:latin typeface="Cambria"/>
                        </a:rPr>
                        <a:t>predição</a:t>
                      </a:r>
                      <a:r>
                        <a:rPr sz="950" b="0" i="0">
                          <a:solidFill>
                            <a:srgbClr val="1E2B2A"/>
                          </a:solidFill>
                          <a:latin typeface="Calibri"/>
                        </a:rPr>
                        <a:t> o benefício central</a:t>
                      </a:r>
                    </a:p>
                  </a:txBody>
                  <a:tcPr marL="73152" marR="73152" marT="22860" marB="22860" anchor="ctr"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1" i="0">
                          <a:solidFill>
                            <a:srgbClr val="123138"/>
                          </a:solidFill>
                          <a:latin typeface="Cambria"/>
                        </a:rPr>
                        <a:t>H2 · gestor trata como dor prioritária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1" i="0">
                          <a:solidFill>
                            <a:srgbClr val="123138"/>
                          </a:solidFill>
                          <a:latin typeface="Cambria"/>
                        </a:rPr>
                        <a:t>🟡 não testada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 i="0">
                          <a:solidFill>
                            <a:srgbClr val="1E2B2A"/>
                          </a:solidFill>
                          <a:latin typeface="Calibri"/>
                        </a:rPr>
                        <a:t>a hipótese mais cara do BMC — decide se o cliente paga por predição ou só por PGR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1" i="0">
                          <a:solidFill>
                            <a:srgbClr val="123138"/>
                          </a:solidFill>
                          <a:latin typeface="Cambria"/>
                        </a:rPr>
                        <a:t>H3 · motorista resiste à coleta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 i="0">
                          <a:solidFill>
                            <a:srgbClr val="1E2B2A"/>
                          </a:solidFill>
                          <a:latin typeface="Calibri"/>
                        </a:rPr>
                        <a:t>🟢 ajustada: a causa é econômica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 i="0">
                          <a:solidFill>
                            <a:srgbClr val="1E2B2A"/>
                          </a:solidFill>
                          <a:latin typeface="Calibri"/>
                        </a:rPr>
                        <a:t>o produto tem de devolver algo ao motorista no mesmo ato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1" i="0">
                          <a:solidFill>
                            <a:srgbClr val="123138"/>
                          </a:solidFill>
                          <a:latin typeface="Cambria"/>
                        </a:rPr>
                        <a:t>H4 · tecnologia atual age tarde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 i="0">
                          <a:solidFill>
                            <a:srgbClr val="1E2B2A"/>
                          </a:solidFill>
                          <a:latin typeface="Calibri"/>
                        </a:rPr>
                        <a:t>🟢 sustentada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 i="0">
                          <a:solidFill>
                            <a:srgbClr val="1E2B2A"/>
                          </a:solidFill>
                          <a:latin typeface="Calibri"/>
                        </a:rPr>
                        <a:t>o diferencial é </a:t>
                      </a:r>
                      <a:r>
                        <a:rPr sz="950" b="0" i="1">
                          <a:solidFill>
                            <a:srgbClr val="1E2B2A"/>
                          </a:solidFill>
                          <a:latin typeface="Calibri"/>
                        </a:rPr>
                        <a:t>antes</a:t>
                      </a:r>
                      <a:r>
                        <a:rPr sz="950" b="0" i="0">
                          <a:solidFill>
                            <a:srgbClr val="1E2B2A"/>
                          </a:solidFill>
                          <a:latin typeface="Calibri"/>
                        </a:rPr>
                        <a:t>, não </a:t>
                      </a:r>
                      <a:r>
                        <a:rPr sz="950" b="0" i="1">
                          <a:solidFill>
                            <a:srgbClr val="1E2B2A"/>
                          </a:solidFill>
                          <a:latin typeface="Calibri"/>
                        </a:rPr>
                        <a:t>melhor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4530000"/>
            <a:ext cx="5450000" cy="6000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2000"/>
              </a:lnSpc>
            </a:pPr>
            <a:r>
              <a:rPr sz="1000" b="1" i="0">
                <a:solidFill>
                  <a:srgbClr val="1E2B2A"/>
                </a:solidFill>
                <a:latin typeface="Cambria"/>
              </a:rPr>
              <a:t>O que mudou desde a E1: </a:t>
            </a:r>
            <a:r>
              <a:rPr sz="1000" b="0" i="0">
                <a:solidFill>
                  <a:srgbClr val="1E2B2A"/>
                </a:solidFill>
                <a:latin typeface="Calibri"/>
              </a:rPr>
              <a:t>a resistência do motorista deixou de ser problema de privacidade e virou problema de renda. O motorista precisa </a:t>
            </a:r>
            <a:r>
              <a:rPr sz="1000" b="1" i="0">
                <a:solidFill>
                  <a:srgbClr val="1E2B2A"/>
                </a:solidFill>
                <a:latin typeface="Cambria"/>
              </a:rPr>
              <a:t>ganhar</a:t>
            </a:r>
            <a:r>
              <a:rPr sz="1000" b="0" i="0">
                <a:solidFill>
                  <a:srgbClr val="1E2B2A"/>
                </a:solidFill>
                <a:latin typeface="Calibri"/>
              </a:rPr>
              <a:t> com a pausa, não só ser poupado por ela.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30000"/>
            <a:ext cx="5450000" cy="2600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2000"/>
              </a:lnSpc>
            </a:pPr>
            <a:r>
              <a:rPr sz="800" b="0" i="0">
                <a:solidFill>
                  <a:srgbClr val="9AA6A3"/>
                </a:solidFill>
                <a:latin typeface="Calibri"/>
              </a:rPr>
              <a:t>Fonte: Entrega Parcial 01, seção 06 — PRF Dados Abertos 2024 · CNT 2025 · Oliveira &amp; Carlotto 2020 · TRT-3 (22/07/2026)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6928" y="2130000"/>
            <a:ext cx="5447838" cy="2200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2000"/>
              </a:lnSpc>
            </a:pPr>
            <a:r>
              <a:rPr sz="1250" b="1" i="0">
                <a:solidFill>
                  <a:srgbClr val="1E2B2A"/>
                </a:solidFill>
                <a:latin typeface="Cambria"/>
              </a:rPr>
              <a:t>5W2H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76928" y="2380000"/>
          <a:ext cx="5447838" cy="2814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00000"/>
                <a:gridCol w="4547838"/>
              </a:tblGrid>
              <a:tr h="402000"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1" i="0">
                          <a:solidFill>
                            <a:srgbClr val="123138"/>
                          </a:solidFill>
                          <a:latin typeface="Cambria"/>
                        </a:rPr>
                        <a:t>O quê</a:t>
                      </a:r>
                    </a:p>
                  </a:txBody>
                  <a:tcPr marL="73152" marR="73152" marT="22860" marB="22860" anchor="ctr"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 i="0">
                          <a:solidFill>
                            <a:srgbClr val="1E2B2A"/>
                          </a:solidFill>
                          <a:latin typeface="Calibri"/>
                        </a:rPr>
                        <a:t>Gestão preditiva do risco de fadiga e psicossocial do motorista, com o PGR psicossocial como saída ⚪</a:t>
                      </a:r>
                    </a:p>
                  </a:txBody>
                  <a:tcPr marL="73152" marR="73152" marT="22860" marB="22860" anchor="ctr"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000"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1" i="0">
                          <a:solidFill>
                            <a:srgbClr val="123138"/>
                          </a:solidFill>
                          <a:latin typeface="Cambria"/>
                        </a:rPr>
                        <a:t>Por quê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 i="0">
                          <a:solidFill>
                            <a:srgbClr val="1E2B2A"/>
                          </a:solidFill>
                          <a:latin typeface="Calibri"/>
                        </a:rPr>
                        <a:t>Dormir ao volante mata 2× mais que álcool por sinistro (PRF 2024: 10,3 contra 5,0 mortes por 100), e a NR-1 cobra a gestão desse risco desde 26/05/2026 🟢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000"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1" i="0">
                          <a:solidFill>
                            <a:srgbClr val="123138"/>
                          </a:solidFill>
                          <a:latin typeface="Cambria"/>
                        </a:rPr>
                        <a:t>Quem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 i="0">
                          <a:solidFill>
                            <a:srgbClr val="1E2B2A"/>
                          </a:solidFill>
                          <a:latin typeface="Calibri"/>
                        </a:rPr>
                        <a:t>O gestor de SST decide e responde; o motorista usa e se beneficia 🟢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000"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1" i="0">
                          <a:solidFill>
                            <a:srgbClr val="123138"/>
                          </a:solidFill>
                          <a:latin typeface="Cambria"/>
                        </a:rPr>
                        <a:t>Onde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 i="0">
                          <a:solidFill>
                            <a:srgbClr val="1E2B2A"/>
                          </a:solidFill>
                          <a:latin typeface="Calibri"/>
                        </a:rPr>
                        <a:t>Transportadora com frota própria e motorista CLT, sobre a telemetria que ela já tem 🟢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000"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1" i="0">
                          <a:solidFill>
                            <a:srgbClr val="123138"/>
                          </a:solidFill>
                          <a:latin typeface="Cambria"/>
                        </a:rPr>
                        <a:t>Quando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 i="0">
                          <a:solidFill>
                            <a:srgbClr val="1E2B2A"/>
                          </a:solidFill>
                          <a:latin typeface="Calibri"/>
                        </a:rPr>
                        <a:t>Antes da viagem, 24 a 72 h. Hoje a ação vem depois: punição ou sinistro 🟢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000"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1" i="0">
                          <a:solidFill>
                            <a:srgbClr val="123138"/>
                          </a:solidFill>
                          <a:latin typeface="Cambria"/>
                        </a:rPr>
                        <a:t>Como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 i="0">
                          <a:solidFill>
                            <a:srgbClr val="1E2B2A"/>
                          </a:solidFill>
                          <a:latin typeface="Calibri"/>
                        </a:rPr>
                        <a:t>Risco visto antes da escala → gestor ajusta escala ou pausa → motorista recebe a rota com paradas → a gestão vira registro do PGR ⚪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000"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1" i="0">
                          <a:solidFill>
                            <a:srgbClr val="123138"/>
                          </a:solidFill>
                          <a:latin typeface="Cambria"/>
                        </a:rPr>
                        <a:t>Quanto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 i="0">
                          <a:solidFill>
                            <a:srgbClr val="1E2B2A"/>
                          </a:solidFill>
                          <a:latin typeface="Calibri"/>
                        </a:rPr>
                        <a:t>Não é preço. Para o gestor, gestão contínua e auditável no lugar de papel; para o motorista, uma pausa planejada que não custa a viagem 🟡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66928" y="5480000"/>
            <a:ext cx="11057838" cy="980000"/>
          </a:xfrm>
          <a:prstGeom prst="roundRect">
            <a:avLst>
              <a:gd name="adj" fmla="val 7000"/>
            </a:avLst>
          </a:prstGeom>
          <a:solidFill>
            <a:srgbClr val="F5E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6928" y="5540000"/>
            <a:ext cx="10657838" cy="8800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2000"/>
              </a:lnSpc>
              <a:spcAft>
                <a:spcPts val="300"/>
              </a:spcAft>
            </a:pPr>
            <a:r>
              <a:rPr sz="950" b="1" i="0">
                <a:solidFill>
                  <a:srgbClr val="1E2B2A"/>
                </a:solidFill>
                <a:latin typeface="Cambria"/>
              </a:rPr>
              <a:t>Declaração do problema — a conclusão do 5W2H. </a:t>
            </a:r>
            <a:r>
              <a:rPr sz="950" b="0" i="0">
                <a:solidFill>
                  <a:srgbClr val="1E2B2A"/>
                </a:solidFill>
                <a:latin typeface="Calibri"/>
              </a:rPr>
              <a:t>Nosso </a:t>
            </a:r>
            <a:r>
              <a:rPr sz="950" b="1" i="0">
                <a:solidFill>
                  <a:srgbClr val="1E2B2A"/>
                </a:solidFill>
                <a:latin typeface="Cambria"/>
              </a:rPr>
              <a:t>serviço de gestão preditiva de risco psicossocial</a:t>
            </a:r>
            <a:r>
              <a:rPr sz="950" b="0" i="0">
                <a:solidFill>
                  <a:srgbClr val="1E2B2A"/>
                </a:solidFill>
                <a:latin typeface="Calibri"/>
              </a:rPr>
              <a:t> permitirá que </a:t>
            </a:r>
            <a:r>
              <a:rPr sz="950" b="1" i="0">
                <a:solidFill>
                  <a:srgbClr val="1E2B2A"/>
                </a:solidFill>
                <a:latin typeface="Cambria"/>
              </a:rPr>
              <a:t>gestores de SST de transportadoras</a:t>
            </a:r>
            <a:r>
              <a:rPr sz="950" b="0" i="0">
                <a:solidFill>
                  <a:srgbClr val="1E2B2A"/>
                </a:solidFill>
                <a:latin typeface="Calibri"/>
              </a:rPr>
              <a:t> saibam </a:t>
            </a:r>
            <a:r>
              <a:rPr sz="950" b="1" i="0">
                <a:solidFill>
                  <a:srgbClr val="1E2B2A"/>
                </a:solidFill>
                <a:latin typeface="Cambria"/>
              </a:rPr>
              <a:t>quais motoristas estão entrando em risco de fadiga nas próximas 24–72 h e ajam antes da viagem</a:t>
            </a:r>
            <a:r>
              <a:rPr sz="950" b="0" i="0">
                <a:solidFill>
                  <a:srgbClr val="1E2B2A"/>
                </a:solidFill>
                <a:latin typeface="Calibri"/>
              </a:rPr>
              <a:t>, o que afetará </a:t>
            </a:r>
            <a:r>
              <a:rPr sz="950" b="1" i="0">
                <a:solidFill>
                  <a:srgbClr val="1E2B2A"/>
                </a:solidFill>
                <a:latin typeface="Cambria"/>
              </a:rPr>
              <a:t>motoristas profissionais</a:t>
            </a:r>
            <a:r>
              <a:rPr sz="950" b="0" i="0">
                <a:solidFill>
                  <a:srgbClr val="1E2B2A"/>
                </a:solidFill>
                <a:latin typeface="Calibri"/>
              </a:rPr>
              <a:t> ao </a:t>
            </a:r>
            <a:r>
              <a:rPr sz="950" b="1" i="0">
                <a:solidFill>
                  <a:srgbClr val="1E2B2A"/>
                </a:solidFill>
                <a:latin typeface="Cambria"/>
              </a:rPr>
              <a:t>substituir a punição posterior por uma pausa anterior</a:t>
            </a:r>
            <a:r>
              <a:rPr sz="950" b="0" i="0">
                <a:solidFill>
                  <a:srgbClr val="1E2B2A"/>
                </a:solidFill>
                <a:latin typeface="Calibri"/>
              </a:rPr>
              <a:t> — e afetará a </a:t>
            </a:r>
            <a:r>
              <a:rPr sz="950" b="1" i="0">
                <a:solidFill>
                  <a:srgbClr val="1E2B2A"/>
                </a:solidFill>
                <a:latin typeface="Cambria"/>
              </a:rPr>
              <a:t>transportadora</a:t>
            </a:r>
            <a:r>
              <a:rPr sz="950" b="0" i="0">
                <a:solidFill>
                  <a:srgbClr val="1E2B2A"/>
                </a:solidFill>
                <a:latin typeface="Calibri"/>
              </a:rPr>
              <a:t> ao </a:t>
            </a:r>
            <a:r>
              <a:rPr sz="950" b="1" i="0">
                <a:solidFill>
                  <a:srgbClr val="1E2B2A"/>
                </a:solidFill>
                <a:latin typeface="Cambria"/>
              </a:rPr>
              <a:t>transformar essa gestão no PGR psicossocial que a NR-1 exige desde 26/05/2026</a:t>
            </a:r>
            <a:r>
              <a:rPr sz="950" b="0" i="0">
                <a:solidFill>
                  <a:srgbClr val="1E2B2A"/>
                </a:solidFill>
                <a:latin typeface="Calibri"/>
              </a:rPr>
              <a:t>.</a:t>
            </a:r>
          </a:p>
          <a:p>
            <a:pPr>
              <a:lnSpc>
                <a:spcPct val="92000"/>
              </a:lnSpc>
              <a:spcAft>
                <a:spcPts val="300"/>
              </a:spcAft>
            </a:pPr>
            <a:r>
              <a:rPr sz="950" b="1" i="0">
                <a:solidFill>
                  <a:srgbClr val="1E2B2A"/>
                </a:solidFill>
                <a:latin typeface="Cambria"/>
              </a:rPr>
              <a:t>Mediremos a eficácia por: </a:t>
            </a:r>
            <a:r>
              <a:rPr sz="950" b="0" i="0">
                <a:solidFill>
                  <a:srgbClr val="1E2B2A"/>
                </a:solidFill>
                <a:latin typeface="Calibri"/>
              </a:rPr>
              <a:t>(a) proporção de motoristas com score alto abordados antes de iniciar a jornada; (b) PGR psicossocial emitido e aceito em auditoria sem ressalva; (c) sinistros e afastamentos por fadiga frente à linha de base da própria frota. </a:t>
            </a:r>
            <a:r>
              <a:rPr sz="950" b="0" i="1">
                <a:solidFill>
                  <a:srgbClr val="1E2B2A"/>
                </a:solidFill>
                <a:latin typeface="Calibri"/>
              </a:rPr>
              <a:t>🟡 As três métricas são propostas; (c) é lenta e só faz sentido com histórico.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95560" y="182880"/>
            <a:ext cx="1600200" cy="11887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0000"/>
              </a:lnSpc>
            </a:pPr>
            <a:r>
              <a:rPr sz="9200" b="1" i="0">
                <a:solidFill>
                  <a:srgbClr val="E7EAE8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91440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2000"/>
              </a:lnSpc>
            </a:pPr>
            <a:r>
              <a:rPr sz="1100" b="1" i="0" spc="160">
                <a:solidFill>
                  <a:srgbClr val="8F3A26"/>
                </a:solidFill>
                <a:latin typeface="Cambria"/>
              </a:rPr>
              <a:t>SEÇÃO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3"/>
            <a:ext cx="9418320" cy="6583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5000"/>
              </a:lnSpc>
            </a:pPr>
            <a:r>
              <a:rPr sz="3100" b="1" i="0">
                <a:solidFill>
                  <a:srgbClr val="123138"/>
                </a:solidFill>
                <a:latin typeface="Cambria"/>
              </a:rPr>
              <a:t>Persona do gestor de SST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11057838" cy="21945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2000"/>
              </a:lnSpc>
            </a:pPr>
            <a:r>
              <a:rPr sz="800" b="0" i="0">
                <a:solidFill>
                  <a:srgbClr val="9AA6A3"/>
                </a:solidFill>
                <a:latin typeface="Calibri"/>
              </a:rPr>
              <a:t>CONFIDENCIAL — material acadêmico em elaboração · QAP 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00000"/>
            <a:ext cx="11057838" cy="5000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2000"/>
              </a:lnSpc>
            </a:pPr>
            <a:r>
              <a:rPr sz="1050" b="0" i="1">
                <a:solidFill>
                  <a:srgbClr val="1E2B2A"/>
                </a:solidFill>
                <a:latin typeface="Calibri"/>
              </a:rPr>
              <a:t>Persona sintética — composta de fontes públicas, não de entrevista. </a:t>
            </a:r>
            <a:r>
              <a:rPr sz="1050" b="1" i="0">
                <a:solidFill>
                  <a:srgbClr val="1E2B2A"/>
                </a:solidFill>
                <a:latin typeface="Cambria"/>
              </a:rPr>
              <a:t>Quem: </a:t>
            </a:r>
            <a:r>
              <a:rPr sz="1050" b="0" i="0">
                <a:solidFill>
                  <a:srgbClr val="1E2B2A"/>
                </a:solidFill>
                <a:latin typeface="Calibri"/>
              </a:rPr>
              <a:t>responsável por SST/RH de uma transportadora de carga com 200–2.000 motoristas CLT e frota própria. Responde pelo PGR, pelo PCMSO, pelas autuações e pelo passivo trabalhista. Reporta à diretoria e negocia com a seguradora.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980000"/>
          <a:ext cx="5450000" cy="2690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250000"/>
                <a:gridCol w="3550000"/>
                <a:gridCol w="650000"/>
              </a:tblGrid>
              <a:tr h="290000"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mbria"/>
                        </a:rPr>
                        <a:t>Dimensão</a:t>
                      </a:r>
                    </a:p>
                  </a:txBody>
                  <a:tcPr marL="73152" marR="73152" marT="22860" marB="22860" anchor="ctr">
                    <a:solidFill>
                      <a:srgbClr val="12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mbria"/>
                        </a:rPr>
                        <a:t>O que a persona vive</a:t>
                      </a:r>
                    </a:p>
                  </a:txBody>
                  <a:tcPr marL="73152" marR="73152" marT="22860" marB="22860" anchor="ctr">
                    <a:solidFill>
                      <a:srgbClr val="12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mbria"/>
                        </a:rPr>
                        <a:t>Marca</a:t>
                      </a:r>
                    </a:p>
                  </a:txBody>
                  <a:tcPr marL="73152" marR="73152" marT="22860" marB="22860" anchor="ctr">
                    <a:solidFill>
                      <a:srgbClr val="123138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1" i="0">
                          <a:solidFill>
                            <a:srgbClr val="123138"/>
                          </a:solidFill>
                          <a:latin typeface="Cambria"/>
                        </a:rPr>
                        <a:t>Contexto</a:t>
                      </a:r>
                    </a:p>
                  </a:txBody>
                  <a:tcPr marL="73152" marR="73152" marT="22860" marB="22860" anchor="ctr"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 i="0">
                          <a:solidFill>
                            <a:srgbClr val="1E2B2A"/>
                          </a:solidFill>
                          <a:latin typeface="Calibri"/>
                        </a:rPr>
                        <a:t>Frota dispersa; dado operacional abundante (telemetria, jornada), dado de saúde quase nenhum</a:t>
                      </a:r>
                    </a:p>
                  </a:txBody>
                  <a:tcPr marL="73152" marR="73152" marT="22860" marB="22860" anchor="ctr"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 i="0">
                          <a:solidFill>
                            <a:srgbClr val="1E2B2A"/>
                          </a:solidFill>
                          <a:latin typeface="Calibri"/>
                        </a:rPr>
                        <a:t>🟢</a:t>
                      </a:r>
                    </a:p>
                  </a:txBody>
                  <a:tcPr marL="73152" marR="73152" marT="22860" marB="22860" anchor="ctr"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1" i="0">
                          <a:solidFill>
                            <a:srgbClr val="123138"/>
                          </a:solidFill>
                          <a:latin typeface="Cambria"/>
                        </a:rPr>
                        <a:t>Objetivo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 i="0">
                          <a:solidFill>
                            <a:srgbClr val="1E2B2A"/>
                          </a:solidFill>
                          <a:latin typeface="Calibri"/>
                        </a:rPr>
                        <a:t>Passar pela fiscalização sem autuação; reduzir sinistro, afastamento e reclamatória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 i="0">
                          <a:solidFill>
                            <a:srgbClr val="1E2B2A"/>
                          </a:solidFill>
                          <a:latin typeface="Calibri"/>
                        </a:rPr>
                        <a:t>🟢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1" i="0">
                          <a:solidFill>
                            <a:srgbClr val="123138"/>
                          </a:solidFill>
                          <a:latin typeface="Cambria"/>
                        </a:rPr>
                        <a:t>Comportamento hoje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 i="0">
                          <a:solidFill>
                            <a:srgbClr val="1E2B2A"/>
                          </a:solidFill>
                          <a:latin typeface="Calibri"/>
                        </a:rPr>
                        <a:t>Cobra o descanso por advertência, suspensão e justa causa — depois do descumprimento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 i="0">
                          <a:solidFill>
                            <a:srgbClr val="1E2B2A"/>
                          </a:solidFill>
                          <a:latin typeface="Calibri"/>
                        </a:rPr>
                        <a:t>🟢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1" i="0">
                          <a:solidFill>
                            <a:srgbClr val="123138"/>
                          </a:solidFill>
                          <a:latin typeface="Cambria"/>
                        </a:rPr>
                        <a:t>Dor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 i="0">
                          <a:solidFill>
                            <a:srgbClr val="1E2B2A"/>
                          </a:solidFill>
                          <a:latin typeface="Calibri"/>
                        </a:rPr>
                        <a:t>Desde 26/05/2026 precisa </a:t>
                      </a:r>
                      <a:r>
                        <a:rPr sz="950" b="1" i="0">
                          <a:solidFill>
                            <a:srgbClr val="123138"/>
                          </a:solidFill>
                          <a:latin typeface="Cambria"/>
                        </a:rPr>
                        <a:t>provar</a:t>
                      </a:r>
                      <a:r>
                        <a:rPr sz="950" b="0" i="0">
                          <a:solidFill>
                            <a:srgbClr val="1E2B2A"/>
                          </a:solidFill>
                          <a:latin typeface="Calibri"/>
                        </a:rPr>
                        <a:t> que gerencia risco psicossocial — e não tem método para medir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 i="0">
                          <a:solidFill>
                            <a:srgbClr val="1E2B2A"/>
                          </a:solidFill>
                          <a:latin typeface="Calibri"/>
                        </a:rPr>
                        <a:t>🟢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1" i="0">
                          <a:solidFill>
                            <a:srgbClr val="123138"/>
                          </a:solidFill>
                          <a:latin typeface="Cambria"/>
                        </a:rPr>
                        <a:t>Necessidade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 i="0">
                          <a:solidFill>
                            <a:srgbClr val="1E2B2A"/>
                          </a:solidFill>
                          <a:latin typeface="Calibri"/>
                        </a:rPr>
                        <a:t>Um documento defensável para o auditor e um sinal acionável antes do sinistro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 i="0">
                          <a:solidFill>
                            <a:srgbClr val="1E2B2A"/>
                          </a:solidFill>
                          <a:latin typeface="Calibri"/>
                        </a:rPr>
                        <a:t>🟡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1" i="0">
                          <a:solidFill>
                            <a:srgbClr val="123138"/>
                          </a:solidFill>
                          <a:latin typeface="Cambria"/>
                        </a:rPr>
                        <a:t>Motivação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 i="0">
                          <a:solidFill>
                            <a:srgbClr val="1E2B2A"/>
                          </a:solidFill>
                          <a:latin typeface="Calibri"/>
                        </a:rPr>
                        <a:t>Evitar multa e MPT; não ser o nome no processo; ser visto como quem cuida da frota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 i="0">
                          <a:solidFill>
                            <a:srgbClr val="1E2B2A"/>
                          </a:solidFill>
                          <a:latin typeface="Calibri"/>
                        </a:rPr>
                        <a:t>🟡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900000"/>
            <a:ext cx="1725226" cy="3800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0000"/>
              </a:lnSpc>
            </a:pPr>
            <a:r>
              <a:rPr sz="2400" b="1" i="0">
                <a:solidFill>
                  <a:srgbClr val="8F3A26"/>
                </a:solidFill>
                <a:latin typeface="Cambria"/>
              </a:rPr>
              <a:t>133 mil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300000"/>
            <a:ext cx="1725226" cy="3300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2000"/>
              </a:lnSpc>
            </a:pPr>
            <a:r>
              <a:rPr sz="950" b="0" i="0">
                <a:solidFill>
                  <a:srgbClr val="1E2B2A"/>
                </a:solidFill>
                <a:latin typeface="Calibri"/>
              </a:rPr>
              <a:t>registros de telemetria em 7 dias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83594" y="4900000"/>
            <a:ext cx="1725226" cy="3800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0000"/>
              </a:lnSpc>
            </a:pPr>
            <a:r>
              <a:rPr sz="2400" b="1" i="0">
                <a:solidFill>
                  <a:srgbClr val="8F3A26"/>
                </a:solidFill>
                <a:latin typeface="Cambria"/>
              </a:rPr>
              <a:t>18 mil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83594" y="5300000"/>
            <a:ext cx="1725226" cy="3300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2000"/>
              </a:lnSpc>
            </a:pPr>
            <a:r>
              <a:rPr sz="950" b="0" i="0">
                <a:solidFill>
                  <a:srgbClr val="1E2B2A"/>
                </a:solidFill>
                <a:latin typeface="Calibri"/>
              </a:rPr>
              <a:t>alertas de conduta na semana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0260" y="4900000"/>
            <a:ext cx="1725226" cy="3800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0000"/>
              </a:lnSpc>
            </a:pPr>
            <a:r>
              <a:rPr sz="2400" b="1" i="0">
                <a:solidFill>
                  <a:srgbClr val="8F3A26"/>
                </a:solidFill>
                <a:latin typeface="Cambria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0260" y="5300000"/>
            <a:ext cx="1725226" cy="3300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2000"/>
              </a:lnSpc>
            </a:pPr>
            <a:r>
              <a:rPr sz="950" b="0" i="0">
                <a:solidFill>
                  <a:srgbClr val="1E2B2A"/>
                </a:solidFill>
                <a:latin typeface="Calibri"/>
              </a:rPr>
              <a:t>sobre fadiga ou saúde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800000"/>
            <a:ext cx="5450000" cy="6000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2000"/>
              </a:lnSpc>
            </a:pPr>
            <a:r>
              <a:rPr sz="800" b="0" i="0">
                <a:solidFill>
                  <a:srgbClr val="9AA6A3"/>
                </a:solidFill>
                <a:latin typeface="Calibri"/>
              </a:rPr>
              <a:t>Fonte: Portarias MTE nº 1.419/2024 e nº 765/2025 · TRT da 3ª Região, 4ª Turma, decisão de 22/07/2026 · E1 slide 2 · telemetria de frota de ônibus, 16 veículos e 46 motoristas, 01 a 07/01/2026, sem identificação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6928" y="1980000"/>
            <a:ext cx="5447838" cy="2560000"/>
          </a:xfrm>
          <a:prstGeom prst="roundRect">
            <a:avLst>
              <a:gd name="adj" fmla="val 7000"/>
            </a:avLst>
          </a:prstGeom>
          <a:solidFill>
            <a:srgbClr val="F5E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6928" y="2060000"/>
            <a:ext cx="5087838" cy="23500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1000" b="1" i="0">
                <a:solidFill>
                  <a:srgbClr val="1E2B2A"/>
                </a:solidFill>
                <a:latin typeface="Cambria"/>
              </a:rPr>
              <a:t>Mapa da empatia — gestor</a:t>
            </a:r>
          </a:p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1000" b="1" i="0">
                <a:solidFill>
                  <a:srgbClr val="1E2B2A"/>
                </a:solidFill>
                <a:latin typeface="Cambria"/>
              </a:rPr>
              <a:t>Vê: </a:t>
            </a:r>
            <a:r>
              <a:rPr sz="1000" b="0" i="0">
                <a:solidFill>
                  <a:srgbClr val="1E2B2A"/>
                </a:solidFill>
                <a:latin typeface="Calibri"/>
              </a:rPr>
              <a:t>o Diário de Bordo e o relatório de telemetria; 18 mil alertas de conduta por semana, sem saber quais importam; o sinistro depois que aconteceu; a checklist do ERP que "atende a NR-1".</a:t>
            </a:r>
          </a:p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1000" b="1" i="0">
                <a:solidFill>
                  <a:srgbClr val="1E2B2A"/>
                </a:solidFill>
                <a:latin typeface="Cambria"/>
              </a:rPr>
              <a:t>Ouve: </a:t>
            </a:r>
            <a:r>
              <a:rPr sz="1000" b="0" i="0">
                <a:solidFill>
                  <a:srgbClr val="1E2B2A"/>
                </a:solidFill>
                <a:latin typeface="Calibri"/>
              </a:rPr>
              <a:t>da diretoria, "resolve isso sem parar a operação"; do jurídico, "a partir de maio a fiscalização pode autuar"; do motorista, silêncio.</a:t>
            </a:r>
          </a:p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1000" b="1" i="0">
                <a:solidFill>
                  <a:srgbClr val="1E2B2A"/>
                </a:solidFill>
                <a:latin typeface="Cambria"/>
              </a:rPr>
              <a:t>Pensa e sente: </a:t>
            </a:r>
            <a:r>
              <a:rPr sz="1000" b="0" i="0">
                <a:solidFill>
                  <a:srgbClr val="1E2B2A"/>
                </a:solidFill>
                <a:latin typeface="Calibri"/>
              </a:rPr>
              <a:t>que vai descobrir o problema pela multa ou pelo acidente — nunca antes. Que a média da frota parece normal, mas o risco está em poucos motoristas, e nenhum alerta aponta quem.</a:t>
            </a:r>
          </a:p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1000" b="1" i="0">
                <a:solidFill>
                  <a:srgbClr val="1E2B2A"/>
                </a:solidFill>
                <a:latin typeface="Cambria"/>
              </a:rPr>
              <a:t>Fala e faz: </a:t>
            </a:r>
            <a:r>
              <a:rPr sz="1000" b="0" i="0">
                <a:solidFill>
                  <a:srgbClr val="1E2B2A"/>
                </a:solidFill>
                <a:latin typeface="Calibri"/>
              </a:rPr>
              <a:t>compra checklist, contrata consultoria de SST, disciplina quem não cumpre pausa.</a:t>
            </a:r>
          </a:p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1000" b="1" i="0">
                <a:solidFill>
                  <a:srgbClr val="1E2B2A"/>
                </a:solidFill>
                <a:latin typeface="Cambria"/>
              </a:rPr>
              <a:t>Dores: </a:t>
            </a:r>
            <a:r>
              <a:rPr sz="1000" b="0" i="0">
                <a:solidFill>
                  <a:srgbClr val="1E2B2A"/>
                </a:solidFill>
                <a:latin typeface="Calibri"/>
              </a:rPr>
              <a:t>sem método, sem tempo, sem dado de saúde — e agora com obrigação.</a:t>
            </a:r>
          </a:p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1000" b="1" i="0">
                <a:solidFill>
                  <a:srgbClr val="1E2B2A"/>
                </a:solidFill>
                <a:latin typeface="Cambria"/>
              </a:rPr>
              <a:t>Ganhos: </a:t>
            </a:r>
            <a:r>
              <a:rPr sz="1000" b="0" i="0">
                <a:solidFill>
                  <a:srgbClr val="1E2B2A"/>
                </a:solidFill>
                <a:latin typeface="Calibri"/>
              </a:rPr>
              <a:t>PGR pronto, risco visível por frota, uma decisão possível antes da viagem.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6928" y="4700000"/>
            <a:ext cx="5447838" cy="11500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2000"/>
              </a:lnSpc>
            </a:pPr>
            <a:r>
              <a:rPr sz="1000" b="1" i="0">
                <a:solidFill>
                  <a:srgbClr val="1E2B2A"/>
                </a:solidFill>
                <a:latin typeface="Cambria"/>
              </a:rPr>
              <a:t>🟡 A hipótese que esta persona esconde. </a:t>
            </a:r>
            <a:r>
              <a:rPr sz="1000" b="0" i="0">
                <a:solidFill>
                  <a:srgbClr val="1E2B2A"/>
                </a:solidFill>
                <a:latin typeface="Calibri"/>
              </a:rPr>
              <a:t>O gestor pode tratar a NR-1 como papelada a terceirizar pelo menor preço (H2). Se for assim, a dor é de conformidade, não de saúde — e a proposta de valor muda de "antecipe o risco" para "tenha o PGR". A entrevista com gestor decide.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95560" y="182880"/>
            <a:ext cx="1600200" cy="11887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0000"/>
              </a:lnSpc>
            </a:pPr>
            <a:r>
              <a:rPr sz="9200" b="1" i="0">
                <a:solidFill>
                  <a:srgbClr val="E7EAE8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91440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2000"/>
              </a:lnSpc>
            </a:pPr>
            <a:r>
              <a:rPr sz="1100" b="1" i="0" spc="160">
                <a:solidFill>
                  <a:srgbClr val="8F3A26"/>
                </a:solidFill>
                <a:latin typeface="Cambria"/>
              </a:rPr>
              <a:t>SEÇÃO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3"/>
            <a:ext cx="9418320" cy="6583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5000"/>
              </a:lnSpc>
            </a:pPr>
            <a:r>
              <a:rPr sz="3100" b="1" i="0">
                <a:solidFill>
                  <a:srgbClr val="123138"/>
                </a:solidFill>
                <a:latin typeface="Cambria"/>
              </a:rPr>
              <a:t>Persona do motorista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11057838" cy="21945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2000"/>
              </a:lnSpc>
            </a:pPr>
            <a:r>
              <a:rPr sz="800" b="0" i="0">
                <a:solidFill>
                  <a:srgbClr val="9AA6A3"/>
                </a:solidFill>
                <a:latin typeface="Calibri"/>
              </a:rPr>
              <a:t>CONFIDENCIAL — material acadêmico em elaboração · QAP 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00000"/>
            <a:ext cx="11057838" cy="2500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2000"/>
              </a:lnSpc>
            </a:pPr>
            <a:r>
              <a:rPr sz="1050" b="0" i="1">
                <a:solidFill>
                  <a:srgbClr val="1E2B2A"/>
                </a:solidFill>
                <a:latin typeface="Calibri"/>
              </a:rPr>
              <a:t>Persona sintética — composta de fontes públicas, não de entrevista.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50000"/>
          <a:ext cx="5450000" cy="2370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250000"/>
                <a:gridCol w="3600000"/>
                <a:gridCol w="600000"/>
              </a:tblGrid>
              <a:tr h="290000"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mbria"/>
                        </a:rPr>
                        <a:t>Dimensão</a:t>
                      </a:r>
                    </a:p>
                  </a:txBody>
                  <a:tcPr marL="73152" marR="73152" marT="22860" marB="22860" anchor="ctr">
                    <a:solidFill>
                      <a:srgbClr val="12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mbria"/>
                        </a:rPr>
                        <a:t>O que a persona vive</a:t>
                      </a:r>
                    </a:p>
                  </a:txBody>
                  <a:tcPr marL="73152" marR="73152" marT="22860" marB="22860" anchor="ctr">
                    <a:solidFill>
                      <a:srgbClr val="12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mbria"/>
                        </a:rPr>
                        <a:t>Marca</a:t>
                      </a:r>
                    </a:p>
                  </a:txBody>
                  <a:tcPr marL="73152" marR="73152" marT="22860" marB="22860" anchor="ctr">
                    <a:solidFill>
                      <a:srgbClr val="123138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1" i="0">
                          <a:solidFill>
                            <a:srgbClr val="123138"/>
                          </a:solidFill>
                          <a:latin typeface="Cambria"/>
                        </a:rPr>
                        <a:t>Contexto</a:t>
                      </a:r>
                    </a:p>
                  </a:txBody>
                  <a:tcPr marL="73152" marR="73152" marT="22860" marB="22860" anchor="ctr"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 i="0">
                          <a:solidFill>
                            <a:srgbClr val="1E2B2A"/>
                          </a:solidFill>
                          <a:latin typeface="Calibri"/>
                        </a:rPr>
                        <a:t>Longe de casa, dorme no trabalho; descansar depende de haver onde parar</a:t>
                      </a:r>
                    </a:p>
                  </a:txBody>
                  <a:tcPr marL="73152" marR="73152" marT="22860" marB="22860" anchor="ctr"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 i="0">
                          <a:solidFill>
                            <a:srgbClr val="1E2B2A"/>
                          </a:solidFill>
                          <a:latin typeface="Calibri"/>
                        </a:rPr>
                        <a:t>🟢</a:t>
                      </a:r>
                    </a:p>
                  </a:txBody>
                  <a:tcPr marL="73152" marR="73152" marT="22860" marB="22860" anchor="ctr"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1" i="0">
                          <a:solidFill>
                            <a:srgbClr val="123138"/>
                          </a:solidFill>
                          <a:latin typeface="Cambria"/>
                        </a:rPr>
                        <a:t>Objetivo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 i="0">
                          <a:solidFill>
                            <a:srgbClr val="1E2B2A"/>
                          </a:solidFill>
                          <a:latin typeface="Calibri"/>
                        </a:rPr>
                        <a:t>Entregar no prazo e ganhar a produção — e chegar inteiro. Renda, família, voltar para casa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 i="0">
                          <a:solidFill>
                            <a:srgbClr val="1E2B2A"/>
                          </a:solidFill>
                          <a:latin typeface="Calibri"/>
                        </a:rPr>
                        <a:t>🟢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1" i="0">
                          <a:solidFill>
                            <a:srgbClr val="123138"/>
                          </a:solidFill>
                          <a:latin typeface="Cambria"/>
                        </a:rPr>
                        <a:t>Comportamento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 i="0">
                          <a:solidFill>
                            <a:srgbClr val="1E2B2A"/>
                          </a:solidFill>
                          <a:latin typeface="Calibri"/>
                        </a:rPr>
                        <a:t>Estende a jornada porque parar custa dinheiro; não fala de cansaço com a empresa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 i="0">
                          <a:solidFill>
                            <a:srgbClr val="1E2B2A"/>
                          </a:solidFill>
                          <a:latin typeface="Calibri"/>
                        </a:rPr>
                        <a:t>🟢 · 🟡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1" i="0">
                          <a:solidFill>
                            <a:srgbClr val="123138"/>
                          </a:solidFill>
                          <a:latin typeface="Cambria"/>
                        </a:rPr>
                        <a:t>Dor e necessidade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 i="0">
                          <a:solidFill>
                            <a:srgbClr val="1E2B2A"/>
                          </a:solidFill>
                          <a:latin typeface="Calibri"/>
                        </a:rPr>
                        <a:t>Desgaste contínuo, não episódio; descanso cobrado sem condição de descansar. Queria saber </a:t>
                      </a:r>
                      <a:r>
                        <a:rPr sz="950" b="1" i="0">
                          <a:solidFill>
                            <a:srgbClr val="123138"/>
                          </a:solidFill>
                          <a:latin typeface="Cambria"/>
                        </a:rPr>
                        <a:t>onde e quando</a:t>
                      </a:r>
                      <a:r>
                        <a:rPr sz="950" b="0" i="0">
                          <a:solidFill>
                            <a:srgbClr val="1E2B2A"/>
                          </a:solidFill>
                          <a:latin typeface="Calibri"/>
                        </a:rPr>
                        <a:t> parar sem perder a viagem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 i="0">
                          <a:solidFill>
                            <a:srgbClr val="1E2B2A"/>
                          </a:solidFill>
                          <a:latin typeface="Calibri"/>
                        </a:rPr>
                        <a:t>🟢 · 🟡</a:t>
                      </a:r>
                    </a:p>
                  </a:txBody>
                  <a:tcPr marL="73152" marR="73152" marT="22860" marB="22860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480000"/>
            <a:ext cx="5450000" cy="2200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2000"/>
              </a:lnSpc>
            </a:pPr>
            <a:r>
              <a:rPr sz="1050" b="1" i="0">
                <a:solidFill>
                  <a:srgbClr val="1E2B2A"/>
                </a:solidFill>
                <a:latin typeface="Cambria"/>
              </a:rPr>
              <a:t>Brasil — CNT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730000"/>
            <a:ext cx="1725226" cy="3800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0000"/>
              </a:lnSpc>
            </a:pPr>
            <a:r>
              <a:rPr sz="2200" b="1" i="0">
                <a:solidFill>
                  <a:srgbClr val="8F3A26"/>
                </a:solidFill>
                <a:latin typeface="Cambria"/>
              </a:rPr>
              <a:t>10h42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130000"/>
            <a:ext cx="1725226" cy="3300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2000"/>
              </a:lnSpc>
            </a:pPr>
            <a:r>
              <a:rPr sz="950" b="0" i="0">
                <a:solidFill>
                  <a:srgbClr val="1E2B2A"/>
                </a:solidFill>
                <a:latin typeface="Calibri"/>
              </a:rPr>
              <a:t>jornada diária média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83594" y="4730000"/>
            <a:ext cx="1725226" cy="3800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0000"/>
              </a:lnSpc>
            </a:pPr>
            <a:r>
              <a:rPr sz="2200" b="1" i="0">
                <a:solidFill>
                  <a:srgbClr val="8F3A26"/>
                </a:solidFill>
                <a:latin typeface="Cambria"/>
              </a:rPr>
              <a:t>17,8%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83594" y="5130000"/>
            <a:ext cx="1725226" cy="3300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2000"/>
              </a:lnSpc>
            </a:pPr>
            <a:r>
              <a:rPr sz="950" b="0" i="0">
                <a:solidFill>
                  <a:srgbClr val="1E2B2A"/>
                </a:solidFill>
                <a:latin typeface="Calibri"/>
              </a:rPr>
              <a:t>acima de 12 h por dia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0260" y="4730000"/>
            <a:ext cx="1725226" cy="3800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0000"/>
              </a:lnSpc>
            </a:pPr>
            <a:r>
              <a:rPr sz="2200" b="1" i="0">
                <a:solidFill>
                  <a:srgbClr val="8F3A26"/>
                </a:solidFill>
                <a:latin typeface="Cambria"/>
              </a:rPr>
              <a:t>39,6%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0260" y="5130000"/>
            <a:ext cx="1725226" cy="3300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2000"/>
              </a:lnSpc>
            </a:pPr>
            <a:r>
              <a:rPr sz="950" b="0" i="0">
                <a:solidFill>
                  <a:srgbClr val="1E2B2A"/>
                </a:solidFill>
                <a:latin typeface="Calibri"/>
              </a:rPr>
              <a:t>dormem até 6 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650000"/>
            <a:ext cx="5450000" cy="7000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2000"/>
              </a:lnSpc>
            </a:pPr>
            <a:r>
              <a:rPr sz="800" b="0" i="0">
                <a:solidFill>
                  <a:srgbClr val="9AA6A3"/>
                </a:solidFill>
                <a:latin typeface="Calibri"/>
              </a:rPr>
              <a:t>Fonte: CNT, Perfil e Preferências dos Caminhoneiros 2025 (n=800) · Agência Brasil, 20/09/2025 · Pé na Estrada, 28/05/2026 · telemetria de frota de ônibus, 16 veículos e 46 motoristas, 01 a 07/01/2026, sem identificação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6928" y="1750000"/>
            <a:ext cx="5447838" cy="1720000"/>
          </a:xfrm>
          <a:prstGeom prst="roundRect">
            <a:avLst>
              <a:gd name="adj" fmla="val 7000"/>
            </a:avLst>
          </a:prstGeom>
          <a:solidFill>
            <a:srgbClr val="F5E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6928" y="1830000"/>
            <a:ext cx="5087838" cy="14000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1000" b="1" i="0">
                <a:solidFill>
                  <a:srgbClr val="1E2B2A"/>
                </a:solidFill>
                <a:latin typeface="Cambria"/>
              </a:rPr>
              <a:t>Mapa da empatia — motorista</a:t>
            </a:r>
          </a:p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1000" b="1" i="0">
                <a:solidFill>
                  <a:srgbClr val="1E2B2A"/>
                </a:solidFill>
                <a:latin typeface="Cambria"/>
              </a:rPr>
              <a:t>Vê: </a:t>
            </a:r>
            <a:r>
              <a:rPr sz="1000" b="0" i="0">
                <a:solidFill>
                  <a:srgbClr val="1E2B2A"/>
                </a:solidFill>
                <a:latin typeface="Calibri"/>
              </a:rPr>
              <a:t>o prazo, a estrada sem ponto de parada, o colega demitido por não cumprir pausa.</a:t>
            </a:r>
          </a:p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1000" b="1" i="0">
                <a:solidFill>
                  <a:srgbClr val="1E2B2A"/>
                </a:solidFill>
                <a:latin typeface="Cambria"/>
              </a:rPr>
              <a:t>Ouve: </a:t>
            </a:r>
            <a:r>
              <a:rPr sz="1000" b="0" i="0">
                <a:solidFill>
                  <a:srgbClr val="1E2B2A"/>
                </a:solidFill>
                <a:latin typeface="Calibri"/>
              </a:rPr>
              <a:t>"tem que cumprir a lei", da empresa; "quando você volta?", da família.</a:t>
            </a:r>
          </a:p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1000" b="1" i="0">
                <a:solidFill>
                  <a:srgbClr val="1E2B2A"/>
                </a:solidFill>
                <a:latin typeface="Cambria"/>
              </a:rPr>
              <a:t>Pensa e sente: </a:t>
            </a:r>
            <a:r>
              <a:rPr sz="1000" b="0" i="0">
                <a:solidFill>
                  <a:srgbClr val="1E2B2A"/>
                </a:solidFill>
                <a:latin typeface="Calibri"/>
              </a:rPr>
              <a:t>que ninguém oferece condição para descansar — só cobra; que falar de cansaço é arriscar o emprego.</a:t>
            </a:r>
          </a:p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1000" b="1" i="0">
                <a:solidFill>
                  <a:srgbClr val="1E2B2A"/>
                </a:solidFill>
                <a:latin typeface="Cambria"/>
              </a:rPr>
              <a:t>Fala e faz: </a:t>
            </a:r>
            <a:r>
              <a:rPr sz="1000" b="0" i="0">
                <a:solidFill>
                  <a:srgbClr val="1E2B2A"/>
                </a:solidFill>
                <a:latin typeface="Calibri"/>
              </a:rPr>
              <a:t>segue viagem, dorme pouco, resolve sozinho.</a:t>
            </a:r>
          </a:p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1000" b="1" i="0">
                <a:solidFill>
                  <a:srgbClr val="1E2B2A"/>
                </a:solidFill>
                <a:latin typeface="Cambria"/>
              </a:rPr>
              <a:t>Dores e ganhos: </a:t>
            </a:r>
            <a:r>
              <a:rPr sz="1000" b="0" i="0">
                <a:solidFill>
                  <a:srgbClr val="1E2B2A"/>
                </a:solidFill>
                <a:latin typeface="Calibri"/>
              </a:rPr>
              <a:t>parar custa e reclamar custa; queria uma pausa que não custasse a produção, e alguém que visse o risco antes dele.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6928" y="3600000"/>
            <a:ext cx="5447838" cy="5200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2000"/>
              </a:lnSpc>
            </a:pPr>
            <a:r>
              <a:rPr sz="1000" b="0" i="1">
                <a:solidFill>
                  <a:srgbClr val="123138"/>
                </a:solidFill>
                <a:latin typeface="Calibri"/>
              </a:rPr>
              <a:t>"Setenta por cento do pessoal é comissionado. Se você não trabalhar, você não produz, você não ganha."</a:t>
            </a:r>
          </a:p>
          <a:p>
            <a:pPr>
              <a:lnSpc>
                <a:spcPct val="92000"/>
              </a:lnSpc>
            </a:pPr>
            <a:r>
              <a:rPr sz="1000" b="0" i="0">
                <a:solidFill>
                  <a:srgbClr val="123138"/>
                </a:solidFill>
                <a:latin typeface="Calibri"/>
              </a:rPr>
              <a:t>— Emerson André, motorista, à Agência Brasil (2025)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6928" y="4200000"/>
            <a:ext cx="5447838" cy="2200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2000"/>
              </a:lnSpc>
            </a:pPr>
            <a:r>
              <a:rPr sz="1050" b="1" i="0">
                <a:solidFill>
                  <a:srgbClr val="1E2B2A"/>
                </a:solidFill>
                <a:latin typeface="Cambria"/>
              </a:rPr>
              <a:t>Na frota que observamos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6928" y="4450000"/>
            <a:ext cx="1724506" cy="3800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0000"/>
              </a:lnSpc>
            </a:pPr>
            <a:r>
              <a:rPr sz="2200" b="1" i="0">
                <a:solidFill>
                  <a:srgbClr val="8F3A26"/>
                </a:solidFill>
                <a:latin typeface="Cambria"/>
              </a:rPr>
              <a:t>8,6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6928" y="4850000"/>
            <a:ext cx="1724506" cy="3300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2000"/>
              </a:lnSpc>
            </a:pPr>
            <a:r>
              <a:rPr sz="950" b="0" i="0">
                <a:solidFill>
                  <a:srgbClr val="1E2B2A"/>
                </a:solidFill>
                <a:latin typeface="Calibri"/>
              </a:rPr>
              <a:t>turno típico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874" y="4450000"/>
            <a:ext cx="1724506" cy="3800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0000"/>
              </a:lnSpc>
            </a:pPr>
            <a:r>
              <a:rPr sz="2200" b="1" i="0">
                <a:solidFill>
                  <a:srgbClr val="8F3A26"/>
                </a:solidFill>
                <a:latin typeface="Cambria"/>
              </a:rPr>
              <a:t>12%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2874" y="4850000"/>
            <a:ext cx="1724506" cy="3300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2000"/>
              </a:lnSpc>
            </a:pPr>
            <a:r>
              <a:rPr sz="950" b="0" i="0">
                <a:solidFill>
                  <a:srgbClr val="1E2B2A"/>
                </a:solidFill>
                <a:latin typeface="Calibri"/>
              </a:rPr>
              <a:t>dos motoristas com ao menos um dia de 14 h ou mais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8820" y="4450000"/>
            <a:ext cx="1724506" cy="3800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0000"/>
              </a:lnSpc>
            </a:pPr>
            <a:r>
              <a:rPr sz="2200" b="1" i="0">
                <a:solidFill>
                  <a:srgbClr val="8F3A26"/>
                </a:solidFill>
                <a:latin typeface="Cambria"/>
              </a:rPr>
              <a:t>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08820" y="4850000"/>
            <a:ext cx="1724506" cy="3300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92000"/>
              </a:lnSpc>
            </a:pPr>
            <a:r>
              <a:rPr sz="950" b="0" i="0">
                <a:solidFill>
                  <a:srgbClr val="1E2B2A"/>
                </a:solidFill>
                <a:latin typeface="Calibri"/>
              </a:rPr>
              <a:t>dos descansos abaixo das 11 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5</cp:revision>
  <dcterms:created xsi:type="dcterms:W3CDTF">2013-01-27T09:14:16Z</dcterms:created>
  <dcterms:modified xsi:type="dcterms:W3CDTF">2026-10-05T04:19:59Z</dcterms:modified>
  <cp:category/>
</cp:coreProperties>
</file>